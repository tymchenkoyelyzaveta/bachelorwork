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69" r:id="rId4"/>
    <p:sldId id="270" r:id="rId5"/>
    <p:sldId id="267" r:id="rId6"/>
    <p:sldId id="258" r:id="rId7"/>
    <p:sldId id="260" r:id="rId8"/>
    <p:sldId id="261" r:id="rId9"/>
    <p:sldId id="262" r:id="rId10"/>
    <p:sldId id="263" r:id="rId11"/>
    <p:sldId id="265" r:id="rId12"/>
    <p:sldId id="274" r:id="rId13"/>
    <p:sldId id="271" r:id="rId14"/>
    <p:sldId id="272" r:id="rId15"/>
    <p:sldId id="273" r:id="rId16"/>
    <p:sldId id="266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73" autoAdjust="0"/>
    <p:restoredTop sz="87346" autoAdjust="0"/>
  </p:normalViewPr>
  <p:slideViewPr>
    <p:cSldViewPr snapToGrid="0" snapToObjects="1">
      <p:cViewPr varScale="1">
        <p:scale>
          <a:sx n="69" d="100"/>
          <a:sy n="69" d="100"/>
        </p:scale>
        <p:origin x="66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96FE18-828C-61E7-1989-8A398F02E7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83840-A921-B21A-9ED9-469160B751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3E6C6-9B9F-43BE-AA2C-E07E37876888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B26CE-FC41-61BF-A347-F464E344D1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FAA60-82D8-4A42-7AF8-1A09C52A4D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06235-6663-4CF3-8B42-E0AFBD9B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655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790DD-BF1D-43E8-AD9B-BE23FACE3DB0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006BF-E6B7-4686-B58F-254586B69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715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0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47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47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47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77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 sz="1300" b="0">
                <a:solidFill>
                  <a:srgbClr val="37474F"/>
                </a:solidFill>
                <a:latin typeface="Segoe UI"/>
              </a:defRPr>
            </a:pPr>
            <a:endParaRPr lang="uk-UA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11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49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10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D359-410B-5519-898F-1A048423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628A7-0052-CDF6-C360-8899C420A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2ED62-5207-239E-FDA6-EF7157131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9422C-E427-8075-BB4E-8E1D32A2F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8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47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47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47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06BF-E6B7-4686-B58F-254586B69F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2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21" Type="http://schemas.openxmlformats.org/officeDocument/2006/relationships/image" Target="../media/image23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.png"/><Relationship Id="rId20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Oval 4"/>
          <p:cNvSpPr/>
          <p:nvPr/>
        </p:nvSpPr>
        <p:spPr>
          <a:xfrm>
            <a:off x="9144000" y="457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6" name="Oval 5"/>
          <p:cNvSpPr/>
          <p:nvPr/>
        </p:nvSpPr>
        <p:spPr>
          <a:xfrm>
            <a:off x="9372600" y="457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7" name="Oval 6"/>
          <p:cNvSpPr/>
          <p:nvPr/>
        </p:nvSpPr>
        <p:spPr>
          <a:xfrm>
            <a:off x="9601200" y="457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8" name="Oval 7"/>
          <p:cNvSpPr/>
          <p:nvPr/>
        </p:nvSpPr>
        <p:spPr>
          <a:xfrm>
            <a:off x="9829800" y="457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9" name="Oval 8"/>
          <p:cNvSpPr/>
          <p:nvPr/>
        </p:nvSpPr>
        <p:spPr>
          <a:xfrm>
            <a:off x="10058400" y="457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0" name="Oval 9"/>
          <p:cNvSpPr/>
          <p:nvPr/>
        </p:nvSpPr>
        <p:spPr>
          <a:xfrm>
            <a:off x="10287000" y="457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1" name="Oval 10"/>
          <p:cNvSpPr/>
          <p:nvPr/>
        </p:nvSpPr>
        <p:spPr>
          <a:xfrm>
            <a:off x="10515600" y="457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2" name="Oval 11"/>
          <p:cNvSpPr/>
          <p:nvPr/>
        </p:nvSpPr>
        <p:spPr>
          <a:xfrm>
            <a:off x="10744200" y="457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3" name="Oval 12"/>
          <p:cNvSpPr/>
          <p:nvPr/>
        </p:nvSpPr>
        <p:spPr>
          <a:xfrm>
            <a:off x="9144000" y="6858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4" name="Oval 13"/>
          <p:cNvSpPr/>
          <p:nvPr/>
        </p:nvSpPr>
        <p:spPr>
          <a:xfrm>
            <a:off x="9372600" y="6858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5" name="Oval 14"/>
          <p:cNvSpPr/>
          <p:nvPr/>
        </p:nvSpPr>
        <p:spPr>
          <a:xfrm>
            <a:off x="9601200" y="6858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6" name="Oval 15"/>
          <p:cNvSpPr/>
          <p:nvPr/>
        </p:nvSpPr>
        <p:spPr>
          <a:xfrm>
            <a:off x="9829800" y="6858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7" name="Oval 16"/>
          <p:cNvSpPr/>
          <p:nvPr/>
        </p:nvSpPr>
        <p:spPr>
          <a:xfrm>
            <a:off x="10058400" y="6858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8" name="Oval 17"/>
          <p:cNvSpPr/>
          <p:nvPr/>
        </p:nvSpPr>
        <p:spPr>
          <a:xfrm>
            <a:off x="10287000" y="6858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9" name="Oval 18"/>
          <p:cNvSpPr/>
          <p:nvPr/>
        </p:nvSpPr>
        <p:spPr>
          <a:xfrm>
            <a:off x="10515600" y="6858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0" name="Oval 19"/>
          <p:cNvSpPr/>
          <p:nvPr/>
        </p:nvSpPr>
        <p:spPr>
          <a:xfrm>
            <a:off x="10744200" y="6858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1" name="Oval 20"/>
          <p:cNvSpPr/>
          <p:nvPr/>
        </p:nvSpPr>
        <p:spPr>
          <a:xfrm>
            <a:off x="9144000" y="9144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2" name="Oval 21"/>
          <p:cNvSpPr/>
          <p:nvPr/>
        </p:nvSpPr>
        <p:spPr>
          <a:xfrm>
            <a:off x="9372600" y="9144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3" name="Oval 22"/>
          <p:cNvSpPr/>
          <p:nvPr/>
        </p:nvSpPr>
        <p:spPr>
          <a:xfrm>
            <a:off x="9601200" y="9144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4" name="Oval 23"/>
          <p:cNvSpPr/>
          <p:nvPr/>
        </p:nvSpPr>
        <p:spPr>
          <a:xfrm>
            <a:off x="9829800" y="9144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5" name="Oval 24"/>
          <p:cNvSpPr/>
          <p:nvPr/>
        </p:nvSpPr>
        <p:spPr>
          <a:xfrm>
            <a:off x="10058400" y="9144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6" name="Oval 25"/>
          <p:cNvSpPr/>
          <p:nvPr/>
        </p:nvSpPr>
        <p:spPr>
          <a:xfrm>
            <a:off x="10287000" y="9144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7" name="Oval 26"/>
          <p:cNvSpPr/>
          <p:nvPr/>
        </p:nvSpPr>
        <p:spPr>
          <a:xfrm>
            <a:off x="10515600" y="9144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8" name="Oval 27"/>
          <p:cNvSpPr/>
          <p:nvPr/>
        </p:nvSpPr>
        <p:spPr>
          <a:xfrm>
            <a:off x="10744200" y="9144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9" name="Oval 28"/>
          <p:cNvSpPr/>
          <p:nvPr/>
        </p:nvSpPr>
        <p:spPr>
          <a:xfrm>
            <a:off x="9143999" y="906552"/>
            <a:ext cx="62807" cy="12206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800" noProof="0" dirty="0"/>
          </a:p>
        </p:txBody>
      </p:sp>
      <p:sp>
        <p:nvSpPr>
          <p:cNvPr id="30" name="Oval 29"/>
          <p:cNvSpPr/>
          <p:nvPr/>
        </p:nvSpPr>
        <p:spPr>
          <a:xfrm>
            <a:off x="9372600" y="11430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1" name="Oval 30"/>
          <p:cNvSpPr/>
          <p:nvPr/>
        </p:nvSpPr>
        <p:spPr>
          <a:xfrm>
            <a:off x="9601200" y="11430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2" name="Oval 31"/>
          <p:cNvSpPr/>
          <p:nvPr/>
        </p:nvSpPr>
        <p:spPr>
          <a:xfrm>
            <a:off x="9829800" y="11430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3" name="Oval 32"/>
          <p:cNvSpPr/>
          <p:nvPr/>
        </p:nvSpPr>
        <p:spPr>
          <a:xfrm>
            <a:off x="10058400" y="11430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4" name="Oval 33"/>
          <p:cNvSpPr/>
          <p:nvPr/>
        </p:nvSpPr>
        <p:spPr>
          <a:xfrm>
            <a:off x="10287000" y="11430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5" name="Oval 34"/>
          <p:cNvSpPr/>
          <p:nvPr/>
        </p:nvSpPr>
        <p:spPr>
          <a:xfrm>
            <a:off x="10515600" y="11430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6" name="Oval 35"/>
          <p:cNvSpPr/>
          <p:nvPr/>
        </p:nvSpPr>
        <p:spPr>
          <a:xfrm>
            <a:off x="10744200" y="11430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7" name="Oval 36"/>
          <p:cNvSpPr/>
          <p:nvPr/>
        </p:nvSpPr>
        <p:spPr>
          <a:xfrm>
            <a:off x="9143999" y="1135152"/>
            <a:ext cx="62807" cy="12206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800" noProof="0" dirty="0"/>
          </a:p>
        </p:txBody>
      </p:sp>
      <p:sp>
        <p:nvSpPr>
          <p:cNvPr id="38" name="Oval 37"/>
          <p:cNvSpPr/>
          <p:nvPr/>
        </p:nvSpPr>
        <p:spPr>
          <a:xfrm>
            <a:off x="9372600" y="13716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9" name="Oval 38"/>
          <p:cNvSpPr/>
          <p:nvPr/>
        </p:nvSpPr>
        <p:spPr>
          <a:xfrm>
            <a:off x="9601200" y="13716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0" name="Oval 39"/>
          <p:cNvSpPr/>
          <p:nvPr/>
        </p:nvSpPr>
        <p:spPr>
          <a:xfrm>
            <a:off x="9829800" y="13716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1" name="Oval 40"/>
          <p:cNvSpPr/>
          <p:nvPr/>
        </p:nvSpPr>
        <p:spPr>
          <a:xfrm>
            <a:off x="10058400" y="13716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2" name="Oval 41"/>
          <p:cNvSpPr/>
          <p:nvPr/>
        </p:nvSpPr>
        <p:spPr>
          <a:xfrm>
            <a:off x="10287000" y="13716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3" name="Oval 42"/>
          <p:cNvSpPr/>
          <p:nvPr/>
        </p:nvSpPr>
        <p:spPr>
          <a:xfrm>
            <a:off x="10515600" y="13716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4" name="Oval 43"/>
          <p:cNvSpPr/>
          <p:nvPr/>
        </p:nvSpPr>
        <p:spPr>
          <a:xfrm>
            <a:off x="10744200" y="13716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5" name="Oval 44"/>
          <p:cNvSpPr/>
          <p:nvPr/>
        </p:nvSpPr>
        <p:spPr>
          <a:xfrm>
            <a:off x="9143999" y="1363752"/>
            <a:ext cx="62807" cy="12206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800" noProof="0" dirty="0"/>
          </a:p>
        </p:txBody>
      </p:sp>
      <p:sp>
        <p:nvSpPr>
          <p:cNvPr id="46" name="Oval 45"/>
          <p:cNvSpPr/>
          <p:nvPr/>
        </p:nvSpPr>
        <p:spPr>
          <a:xfrm>
            <a:off x="9372600" y="1600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7" name="Oval 46"/>
          <p:cNvSpPr/>
          <p:nvPr/>
        </p:nvSpPr>
        <p:spPr>
          <a:xfrm>
            <a:off x="9601200" y="1600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8" name="Oval 47"/>
          <p:cNvSpPr/>
          <p:nvPr/>
        </p:nvSpPr>
        <p:spPr>
          <a:xfrm>
            <a:off x="9829800" y="1600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9" name="Oval 48"/>
          <p:cNvSpPr/>
          <p:nvPr/>
        </p:nvSpPr>
        <p:spPr>
          <a:xfrm>
            <a:off x="10058400" y="1600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0" name="Oval 49"/>
          <p:cNvSpPr/>
          <p:nvPr/>
        </p:nvSpPr>
        <p:spPr>
          <a:xfrm>
            <a:off x="10287000" y="1600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1" name="Oval 50"/>
          <p:cNvSpPr/>
          <p:nvPr/>
        </p:nvSpPr>
        <p:spPr>
          <a:xfrm>
            <a:off x="10515600" y="1600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2" name="Oval 51"/>
          <p:cNvSpPr/>
          <p:nvPr/>
        </p:nvSpPr>
        <p:spPr>
          <a:xfrm>
            <a:off x="10744200" y="1600200"/>
            <a:ext cx="50800" cy="50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3" name="Rectangle 52"/>
          <p:cNvSpPr/>
          <p:nvPr/>
        </p:nvSpPr>
        <p:spPr>
          <a:xfrm>
            <a:off x="1097279" y="1409472"/>
            <a:ext cx="67831" cy="70309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800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1371600" y="1318032"/>
            <a:ext cx="90441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B2EBF2"/>
                </a:solidFill>
                <a:latin typeface="Segoe UI"/>
              </a:defRPr>
            </a:pPr>
            <a:r>
              <a:rPr lang="uk-UA" sz="3600" dirty="0">
                <a:solidFill>
                  <a:srgbClr val="B2EBF2"/>
                </a:solidFill>
                <a:latin typeface="Segoe UI"/>
              </a:rPr>
              <a:t>Веб-система для аналізу та візуалізації користувацьких наборів даних</a:t>
            </a:r>
          </a:p>
          <a:p>
            <a:pPr>
              <a:defRPr sz="2600" b="0">
                <a:solidFill>
                  <a:srgbClr val="B2EBF2"/>
                </a:solidFill>
                <a:latin typeface="Segoe UI"/>
              </a:defRPr>
            </a:pPr>
            <a:endParaRPr lang="uk-UA" sz="3600" noProof="0" dirty="0"/>
          </a:p>
        </p:txBody>
      </p:sp>
      <p:sp>
        <p:nvSpPr>
          <p:cNvPr id="56" name="Rectangle 55"/>
          <p:cNvSpPr/>
          <p:nvPr/>
        </p:nvSpPr>
        <p:spPr>
          <a:xfrm>
            <a:off x="1371600" y="3146831"/>
            <a:ext cx="4522076" cy="87887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2800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1371600" y="3512590"/>
            <a:ext cx="9044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8F0"/>
                </a:solidFill>
                <a:latin typeface="Segoe UI"/>
              </a:defRPr>
            </a:pPr>
            <a:r>
              <a:rPr lang="uk-UA" sz="2800" noProof="0" dirty="0"/>
              <a:t>студентка гр. ПЗПІз-22-1 Тимченко Є. Г.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0" y="4106952"/>
            <a:ext cx="9044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0E8F0"/>
                </a:solidFill>
                <a:latin typeface="Segoe UI"/>
              </a:defRPr>
            </a:pPr>
            <a:r>
              <a:rPr lang="uk-UA" sz="2800" noProof="0" dirty="0"/>
              <a:t>Керівник: </a:t>
            </a:r>
            <a:r>
              <a:rPr lang="uk-UA" sz="2800" noProof="0" dirty="0" err="1">
                <a:solidFill>
                  <a:srgbClr val="E0E8F0"/>
                </a:solidFill>
                <a:latin typeface="Segoe UI"/>
                <a:sym typeface="IBM Plex Sans"/>
              </a:rPr>
              <a:t>ст.викл</a:t>
            </a:r>
            <a:r>
              <a:rPr lang="uk-UA" sz="2800" noProof="0" dirty="0">
                <a:solidFill>
                  <a:srgbClr val="E0E8F0"/>
                </a:solidFill>
                <a:latin typeface="Segoe UI"/>
                <a:sym typeface="IBM Plex Sans"/>
              </a:rPr>
              <a:t>. каф. ПІ </a:t>
            </a:r>
            <a:r>
              <a:rPr lang="uk-UA" sz="2800" noProof="0" dirty="0" err="1">
                <a:solidFill>
                  <a:srgbClr val="E0E8F0"/>
                </a:solidFill>
                <a:latin typeface="Segoe UI"/>
                <a:sym typeface="IBM Plex Sans"/>
              </a:rPr>
              <a:t>Широкопетлєва</a:t>
            </a:r>
            <a:r>
              <a:rPr lang="uk-UA" sz="2800" noProof="0" dirty="0">
                <a:solidFill>
                  <a:srgbClr val="E0E8F0"/>
                </a:solidFill>
                <a:latin typeface="Segoe UI"/>
                <a:sym typeface="IBM Plex Sans"/>
              </a:rPr>
              <a:t> М.С.</a:t>
            </a:r>
            <a:endParaRPr lang="uk-UA" sz="2800" noProof="0" dirty="0">
              <a:solidFill>
                <a:srgbClr val="E0E8F0"/>
              </a:solidFill>
              <a:latin typeface="Segoe U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1261241" y="457200"/>
            <a:ext cx="96484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noProof="0" dirty="0">
                <a:solidFill>
                  <a:schemeClr val="bg1"/>
                </a:solidFill>
              </a:rPr>
              <a:t>Харківський національний університет радіоелектроніки</a:t>
            </a:r>
          </a:p>
          <a:p>
            <a:endParaRPr lang="uk-UA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/>
              <a:t>Актуальність роботи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rgbClr val="002060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530737"/>
            <a:ext cx="73152" cy="13587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217075" y="3253795"/>
            <a:ext cx="3754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B2A"/>
                </a:solidFill>
                <a:latin typeface="Segoe UI"/>
              </a:defRPr>
            </a:pPr>
            <a:r>
              <a:rPr lang="uk-UA" dirty="0"/>
              <a:t>Проблеми що вирішуються</a:t>
            </a:r>
            <a:endParaRPr lang="uk-UA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2625176" y="3734447"/>
            <a:ext cx="7250344" cy="3840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37474F"/>
                </a:solidFill>
                <a:latin typeface="Segoe UI"/>
              </a:defRPr>
            </a:pPr>
            <a:r>
              <a:rPr lang="uk-UA" sz="1600" noProof="0" dirty="0"/>
              <a:t>  1. Автоматичний аналіз придатності даних для OLAP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0712" y="4309337"/>
            <a:ext cx="7244808" cy="53127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37474F"/>
                </a:solidFill>
                <a:latin typeface="Segoe UI"/>
              </a:defRPr>
            </a:pPr>
            <a:r>
              <a:rPr lang="uk-UA" sz="1600" noProof="0" dirty="0"/>
              <a:t>  2. Побудова OLAP-кубів з підтримкою часових ієрархій та кастомних мір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30712" y="5038408"/>
            <a:ext cx="7244808" cy="3840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37474F"/>
                </a:solidFill>
                <a:latin typeface="Segoe UI"/>
              </a:defRPr>
            </a:pPr>
            <a:r>
              <a:rPr lang="uk-UA" sz="1600" noProof="0" dirty="0"/>
              <a:t>  3. Виконання SQL/MDX запитів з AI-генерацією через </a:t>
            </a:r>
            <a:r>
              <a:rPr lang="uk-UA" sz="1600" noProof="0" dirty="0" err="1"/>
              <a:t>Gemini</a:t>
            </a:r>
            <a:endParaRPr lang="uk-UA" sz="1600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2629947" y="5613298"/>
            <a:ext cx="7244808" cy="3840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37474F"/>
                </a:solidFill>
                <a:latin typeface="Segoe UI"/>
              </a:defRPr>
            </a:pPr>
            <a:r>
              <a:rPr lang="uk-UA" sz="1600" noProof="0" dirty="0"/>
              <a:t>  4. Створення інтерактивних </a:t>
            </a:r>
            <a:r>
              <a:rPr lang="uk-UA" sz="1600" noProof="0" dirty="0" err="1"/>
              <a:t>дашбордів</a:t>
            </a:r>
            <a:r>
              <a:rPr lang="uk-UA" sz="1600" noProof="0" dirty="0"/>
              <a:t> з експортом у 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30712" y="6197342"/>
            <a:ext cx="7244808" cy="3840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37474F"/>
                </a:solidFill>
                <a:latin typeface="Segoe UI"/>
              </a:defRPr>
            </a:pPr>
            <a:r>
              <a:rPr lang="uk-UA" sz="1600" noProof="0" dirty="0"/>
              <a:t>  5. Управління проєктами, користувачами та адміністрування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548640" y="1288122"/>
            <a:ext cx="11430000" cy="184779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k-UA" sz="2400" noProof="0" dirty="0">
                <a:solidFill>
                  <a:srgbClr val="00BCD4"/>
                </a:solidFill>
              </a:rPr>
              <a:t>Існуючі OLAP-рішення (Microsoft SSAS, </a:t>
            </a:r>
            <a:r>
              <a:rPr lang="uk-UA" sz="2400" noProof="0" dirty="0" err="1">
                <a:solidFill>
                  <a:srgbClr val="00BCD4"/>
                </a:solidFill>
              </a:rPr>
              <a:t>Apache</a:t>
            </a:r>
            <a:r>
              <a:rPr lang="uk-UA" sz="2400" noProof="0" dirty="0">
                <a:solidFill>
                  <a:srgbClr val="00BCD4"/>
                </a:solidFill>
              </a:rPr>
              <a:t> </a:t>
            </a:r>
            <a:r>
              <a:rPr lang="uk-UA" sz="2400" noProof="0" dirty="0" err="1">
                <a:solidFill>
                  <a:srgbClr val="00BCD4"/>
                </a:solidFill>
              </a:rPr>
              <a:t>Kylin</a:t>
            </a:r>
            <a:r>
              <a:rPr lang="uk-UA" sz="2400" noProof="0" dirty="0">
                <a:solidFill>
                  <a:srgbClr val="00BCD4"/>
                </a:solidFill>
              </a:rPr>
              <a:t>, </a:t>
            </a:r>
            <a:r>
              <a:rPr lang="uk-UA" sz="2400" noProof="0" dirty="0" err="1">
                <a:solidFill>
                  <a:srgbClr val="00BCD4"/>
                </a:solidFill>
              </a:rPr>
              <a:t>Mondrian</a:t>
            </a:r>
            <a:r>
              <a:rPr lang="uk-UA" sz="2400" noProof="0" dirty="0">
                <a:solidFill>
                  <a:srgbClr val="00BCD4"/>
                </a:solidFill>
              </a:rPr>
              <a:t>) потребують значних зусиль для розгортання та конфігурації. </a:t>
            </a:r>
          </a:p>
          <a:p>
            <a:r>
              <a:rPr lang="uk-UA" sz="2400" noProof="0" dirty="0">
                <a:solidFill>
                  <a:srgbClr val="00BCD4"/>
                </a:solidFill>
              </a:rPr>
              <a:t>Бізнес-аналітикам і менеджерам потрібен інструмент, що працює за принципом "завантажив файл → отримав куб → побудував </a:t>
            </a:r>
            <a:r>
              <a:rPr lang="uk-UA" sz="2400" noProof="0" dirty="0" err="1">
                <a:solidFill>
                  <a:srgbClr val="00BCD4"/>
                </a:solidFill>
              </a:rPr>
              <a:t>дашборд</a:t>
            </a:r>
            <a:r>
              <a:rPr lang="uk-UA" sz="2400" noProof="0" dirty="0">
                <a:solidFill>
                  <a:srgbClr val="00BCD4"/>
                </a:solidFill>
              </a:rPr>
              <a:t>" — без </a:t>
            </a:r>
            <a:r>
              <a:rPr lang="uk-UA" sz="2400" noProof="0" dirty="0" err="1">
                <a:solidFill>
                  <a:srgbClr val="00BCD4"/>
                </a:solidFill>
              </a:rPr>
              <a:t>DevOps</a:t>
            </a:r>
            <a:r>
              <a:rPr lang="uk-UA" sz="2400" noProof="0" dirty="0">
                <a:solidFill>
                  <a:srgbClr val="00BCD4"/>
                </a:solidFill>
              </a:rPr>
              <a:t> і DBA.</a:t>
            </a:r>
          </a:p>
        </p:txBody>
      </p:sp>
      <p:sp>
        <p:nvSpPr>
          <p:cNvPr id="26" name="Rectangle 8"/>
          <p:cNvSpPr/>
          <p:nvPr/>
        </p:nvSpPr>
        <p:spPr>
          <a:xfrm>
            <a:off x="2497161" y="3734447"/>
            <a:ext cx="73152" cy="2882243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sz="3200" b="1" noProof="0">
                <a:solidFill>
                  <a:srgbClr val="FFFFFF"/>
                </a:solidFill>
                <a:latin typeface="Segoe UI"/>
                <a:cs typeface="Segoe UI"/>
              </a:rPr>
              <a:t>Аналіз існуючих рішень</a:t>
            </a:r>
            <a:endParaRPr lang="uk-UA" sz="3200" b="1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sz="1600" b="1">
                <a:solidFill>
                  <a:srgbClr val="002060"/>
                </a:solidFill>
                <a:latin typeface="Segoe UI"/>
                <a:cs typeface="Segoe UI"/>
              </a:defRPr>
            </a:lvl1pPr>
          </a:lstStyle>
          <a:p>
            <a:r>
              <a:rPr lang="uk-UA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333989-A653-45D1-B31F-75099172E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61843"/>
              </p:ext>
            </p:extLst>
          </p:nvPr>
        </p:nvGraphicFramePr>
        <p:xfrm>
          <a:off x="508000" y="1346200"/>
          <a:ext cx="11356897" cy="4304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045">
                  <a:extLst>
                    <a:ext uri="{9D8B030D-6E8A-4147-A177-3AD203B41FA5}">
                      <a16:colId xmlns:a16="http://schemas.microsoft.com/office/drawing/2014/main" val="1167839073"/>
                    </a:ext>
                  </a:extLst>
                </a:gridCol>
                <a:gridCol w="1464577">
                  <a:extLst>
                    <a:ext uri="{9D8B030D-6E8A-4147-A177-3AD203B41FA5}">
                      <a16:colId xmlns:a16="http://schemas.microsoft.com/office/drawing/2014/main" val="3243636345"/>
                    </a:ext>
                  </a:extLst>
                </a:gridCol>
                <a:gridCol w="1464577">
                  <a:extLst>
                    <a:ext uri="{9D8B030D-6E8A-4147-A177-3AD203B41FA5}">
                      <a16:colId xmlns:a16="http://schemas.microsoft.com/office/drawing/2014/main" val="2636982079"/>
                    </a:ext>
                  </a:extLst>
                </a:gridCol>
                <a:gridCol w="1464577">
                  <a:extLst>
                    <a:ext uri="{9D8B030D-6E8A-4147-A177-3AD203B41FA5}">
                      <a16:colId xmlns:a16="http://schemas.microsoft.com/office/drawing/2014/main" val="3395009603"/>
                    </a:ext>
                  </a:extLst>
                </a:gridCol>
                <a:gridCol w="1490272">
                  <a:extLst>
                    <a:ext uri="{9D8B030D-6E8A-4147-A177-3AD203B41FA5}">
                      <a16:colId xmlns:a16="http://schemas.microsoft.com/office/drawing/2014/main" val="2793876598"/>
                    </a:ext>
                  </a:extLst>
                </a:gridCol>
                <a:gridCol w="1464577">
                  <a:extLst>
                    <a:ext uri="{9D8B030D-6E8A-4147-A177-3AD203B41FA5}">
                      <a16:colId xmlns:a16="http://schemas.microsoft.com/office/drawing/2014/main" val="4002613490"/>
                    </a:ext>
                  </a:extLst>
                </a:gridCol>
                <a:gridCol w="1490272">
                  <a:extLst>
                    <a:ext uri="{9D8B030D-6E8A-4147-A177-3AD203B41FA5}">
                      <a16:colId xmlns:a16="http://schemas.microsoft.com/office/drawing/2014/main" val="3218917883"/>
                    </a:ext>
                  </a:extLst>
                </a:gridCol>
              </a:tblGrid>
              <a:tr h="87619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Система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CSV/XLSX без ETL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Просте розгортання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Низький поріг входу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Семантика колонок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Оцінка cubability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AI-генерація запитів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692037"/>
                  </a:ext>
                </a:extLst>
              </a:tr>
              <a:tr h="571433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Microsoft SSAS + Power 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29070"/>
                  </a:ext>
                </a:extLst>
              </a:tr>
              <a:tr h="571433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Apache Kylin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961398"/>
                  </a:ext>
                </a:extLst>
              </a:tr>
              <a:tr h="571433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Apache Druid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547137"/>
                  </a:ext>
                </a:extLst>
              </a:tr>
              <a:tr h="571433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Atoti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+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+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476583"/>
                  </a:ext>
                </a:extLst>
              </a:tr>
              <a:tr h="571433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Pentaho Mondrian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036391"/>
                  </a:ext>
                </a:extLst>
              </a:tr>
              <a:tr h="571433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OpenRefine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+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+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+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FD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760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78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sz="3200" b="1" noProof="0">
                <a:solidFill>
                  <a:srgbClr val="FFFFFF"/>
                </a:solidFill>
                <a:latin typeface="Segoe UI"/>
                <a:cs typeface="Segoe UI"/>
              </a:rPr>
              <a:t>Постановка задачі та функціонал</a:t>
            </a:r>
            <a:endParaRPr lang="uk-UA" sz="3200" b="1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sz="1600" b="1">
                <a:solidFill>
                  <a:srgbClr val="002060"/>
                </a:solidFill>
                <a:latin typeface="Segoe UI"/>
                <a:cs typeface="Segoe UI"/>
              </a:defRPr>
            </a:lvl1pPr>
          </a:lstStyle>
          <a:p>
            <a:r>
              <a:rPr lang="uk-UA" dirty="0"/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7FEE32-6BCC-4077-B894-77C83EAF11E8}"/>
              </a:ext>
            </a:extLst>
          </p:cNvPr>
          <p:cNvSpPr/>
          <p:nvPr/>
        </p:nvSpPr>
        <p:spPr>
          <a:xfrm>
            <a:off x="508000" y="1244600"/>
            <a:ext cx="11176000" cy="11176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Необхідно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спроєктувати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та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реалізувати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веб-систему для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аналізу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й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візуалізації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користувацьких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наборів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даних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(</a:t>
            </a:r>
            <a:r>
              <a:rPr lang="en-US" sz="1500" dirty="0">
                <a:solidFill>
                  <a:srgbClr val="37474F"/>
                </a:solidFill>
                <a:latin typeface="Segoe UI"/>
                <a:cs typeface="Segoe UI"/>
              </a:rPr>
              <a:t>CSV/XLSX),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що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автоматично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визначає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типи та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семантичні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ролі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колонок,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кількісно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оцінює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придатність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датасету для </a:t>
            </a:r>
            <a:r>
              <a:rPr lang="en-US" sz="1500" dirty="0">
                <a:solidFill>
                  <a:srgbClr val="37474F"/>
                </a:solidFill>
                <a:latin typeface="Segoe UI"/>
                <a:cs typeface="Segoe UI"/>
              </a:rPr>
              <a:t>OLAP-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куба,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будує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куби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засобами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en-US" sz="1500" dirty="0" err="1">
                <a:solidFill>
                  <a:srgbClr val="37474F"/>
                </a:solidFill>
                <a:latin typeface="Segoe UI"/>
                <a:cs typeface="Segoe UI"/>
              </a:rPr>
              <a:t>Atoti</a:t>
            </a:r>
            <a:r>
              <a:rPr lang="en-US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поверх </a:t>
            </a:r>
            <a:r>
              <a:rPr lang="en-US" sz="1500" dirty="0" err="1">
                <a:solidFill>
                  <a:srgbClr val="37474F"/>
                </a:solidFill>
                <a:latin typeface="Segoe UI"/>
                <a:cs typeface="Segoe UI"/>
              </a:rPr>
              <a:t>DuckDB</a:t>
            </a:r>
            <a:r>
              <a:rPr lang="en-US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та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формує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інтерактивні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500" dirty="0" err="1">
                <a:solidFill>
                  <a:srgbClr val="37474F"/>
                </a:solidFill>
                <a:latin typeface="Segoe UI"/>
                <a:cs typeface="Segoe UI"/>
              </a:rPr>
              <a:t>дашборди</a:t>
            </a:r>
            <a:r>
              <a:rPr lang="ru-RU" sz="1500" dirty="0">
                <a:solidFill>
                  <a:srgbClr val="37474F"/>
                </a:solidFill>
                <a:latin typeface="Segoe UI"/>
                <a:cs typeface="Segoe UI"/>
              </a:rPr>
              <a:t>.</a:t>
            </a:r>
            <a:endParaRPr lang="en-US" sz="1500" dirty="0">
              <a:solidFill>
                <a:srgbClr val="37474F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DEAA4-D754-4703-B1C9-DED3A643AE4D}"/>
              </a:ext>
            </a:extLst>
          </p:cNvPr>
          <p:cNvSpPr txBox="1"/>
          <p:nvPr/>
        </p:nvSpPr>
        <p:spPr>
          <a:xfrm>
            <a:off x="508000" y="24892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b="1">
                <a:solidFill>
                  <a:srgbClr val="00BCD4"/>
                </a:solidFill>
                <a:latin typeface="Segoe UI"/>
                <a:cs typeface="Segoe UI"/>
              </a:rPr>
              <a:t>Функціональні модулі:</a:t>
            </a:r>
            <a:endParaRPr lang="en-US" b="1">
              <a:solidFill>
                <a:srgbClr val="00BCD4"/>
              </a:solidFill>
              <a:latin typeface="Segoe UI"/>
              <a:cs typeface="Segoe U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06D586-B95F-4E51-BCB6-954CBDBE9014}"/>
              </a:ext>
            </a:extLst>
          </p:cNvPr>
          <p:cNvSpPr/>
          <p:nvPr/>
        </p:nvSpPr>
        <p:spPr>
          <a:xfrm>
            <a:off x="508000" y="2971800"/>
            <a:ext cx="5461000" cy="431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Автентифікація та керування акаунтами (</a:t>
            </a:r>
            <a:r>
              <a:rPr lang="en-US" sz="1400">
                <a:solidFill>
                  <a:srgbClr val="37474F"/>
                </a:solidFill>
                <a:latin typeface="Segoe UI"/>
                <a:cs typeface="Segoe UI"/>
              </a:rPr>
              <a:t>JWT)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E9097C-386E-4F08-ADCA-7ED95D3B708F}"/>
              </a:ext>
            </a:extLst>
          </p:cNvPr>
          <p:cNvSpPr/>
          <p:nvPr/>
        </p:nvSpPr>
        <p:spPr>
          <a:xfrm>
            <a:off x="508000" y="3530600"/>
            <a:ext cx="5461000" cy="431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Проєкти: створення, квоти, спільний доступ</a:t>
            </a:r>
            <a:endParaRPr lang="en-US" sz="1400">
              <a:solidFill>
                <a:srgbClr val="37474F"/>
              </a:solidFill>
              <a:latin typeface="Segoe UI"/>
              <a:cs typeface="Segoe U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2119AB-F628-4609-8F1A-6BE87A584F66}"/>
              </a:ext>
            </a:extLst>
          </p:cNvPr>
          <p:cNvSpPr/>
          <p:nvPr/>
        </p:nvSpPr>
        <p:spPr>
          <a:xfrm>
            <a:off x="508000" y="4089400"/>
            <a:ext cx="5461000" cy="431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Датасети: імпорт </a:t>
            </a:r>
            <a:r>
              <a:rPr lang="en-US" sz="1400">
                <a:solidFill>
                  <a:srgbClr val="37474F"/>
                </a:solidFill>
                <a:latin typeface="Segoe UI"/>
                <a:cs typeface="Segoe UI"/>
              </a:rPr>
              <a:t>CSV/XLSX, </a:t>
            </a:r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автотипи, </a:t>
            </a:r>
            <a:r>
              <a:rPr lang="en-US" sz="1400">
                <a:solidFill>
                  <a:srgbClr val="37474F"/>
                </a:solidFill>
                <a:latin typeface="Segoe UI"/>
                <a:cs typeface="Segoe UI"/>
              </a:rPr>
              <a:t>cubability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9EC77C-00AD-450A-8063-946A7DDCE47F}"/>
              </a:ext>
            </a:extLst>
          </p:cNvPr>
          <p:cNvSpPr/>
          <p:nvPr/>
        </p:nvSpPr>
        <p:spPr>
          <a:xfrm>
            <a:off x="508000" y="4648200"/>
            <a:ext cx="5461000" cy="431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7474F"/>
                </a:solidFill>
                <a:latin typeface="Segoe UI"/>
                <a:cs typeface="Segoe UI"/>
              </a:rPr>
              <a:t>OLAP-</a:t>
            </a:r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куби: виміри, міри, часові ієрархії</a:t>
            </a:r>
            <a:endParaRPr lang="en-US" sz="1400">
              <a:solidFill>
                <a:srgbClr val="37474F"/>
              </a:solidFill>
              <a:latin typeface="Segoe UI"/>
              <a:cs typeface="Segoe U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988B18-AF0C-4674-85A8-CA5ECBBBEF07}"/>
              </a:ext>
            </a:extLst>
          </p:cNvPr>
          <p:cNvSpPr/>
          <p:nvPr/>
        </p:nvSpPr>
        <p:spPr>
          <a:xfrm>
            <a:off x="6223000" y="2971800"/>
            <a:ext cx="5461000" cy="431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Запити: SQL/MDX, колекції, збережені прогони</a:t>
            </a:r>
            <a:endParaRPr lang="en-US" sz="1400">
              <a:solidFill>
                <a:srgbClr val="37474F"/>
              </a:solidFill>
              <a:latin typeface="Segoe UI"/>
              <a:cs typeface="Segoe UI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7C8ACF-3866-4DBE-B219-65D3065C8BFA}"/>
              </a:ext>
            </a:extLst>
          </p:cNvPr>
          <p:cNvSpPr/>
          <p:nvPr/>
        </p:nvSpPr>
        <p:spPr>
          <a:xfrm>
            <a:off x="6223000" y="3530600"/>
            <a:ext cx="5461000" cy="431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AI-генерація запитів природною мовою (Gemini)</a:t>
            </a:r>
            <a:endParaRPr lang="en-US" sz="1400">
              <a:solidFill>
                <a:srgbClr val="37474F"/>
              </a:solidFill>
              <a:latin typeface="Segoe UI"/>
              <a:cs typeface="Segoe UI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F681FA5-3F9E-414A-9A2B-B1A572890D1F}"/>
              </a:ext>
            </a:extLst>
          </p:cNvPr>
          <p:cNvSpPr/>
          <p:nvPr/>
        </p:nvSpPr>
        <p:spPr>
          <a:xfrm>
            <a:off x="6223000" y="4089400"/>
            <a:ext cx="5461000" cy="431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Дашборди: візуалізації, експорт </a:t>
            </a:r>
            <a:r>
              <a:rPr lang="en-US" sz="1400">
                <a:solidFill>
                  <a:srgbClr val="37474F"/>
                </a:solidFill>
                <a:latin typeface="Segoe UI"/>
                <a:cs typeface="Segoe UI"/>
              </a:rPr>
              <a:t>PDF/CSV, share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E9C1B8-F79F-4B19-A4B6-50413D117207}"/>
              </a:ext>
            </a:extLst>
          </p:cNvPr>
          <p:cNvSpPr/>
          <p:nvPr/>
        </p:nvSpPr>
        <p:spPr>
          <a:xfrm>
            <a:off x="6223000" y="4648200"/>
            <a:ext cx="5461000" cy="4318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Адміністрування: суперкористувач, усі проєкти</a:t>
            </a:r>
            <a:endParaRPr lang="en-US" sz="1400">
              <a:solidFill>
                <a:srgbClr val="37474F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4250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40EB3-BA6B-2DC0-D01C-FB8641F4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AB767F-44B8-4419-78CA-37FF873792DB}"/>
              </a:ext>
            </a:extLst>
          </p:cNvPr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78869-893B-24FC-883E-A3F1FAE59F7D}"/>
              </a:ext>
            </a:extLst>
          </p:cNvPr>
          <p:cNvSpPr txBox="1"/>
          <p:nvPr/>
        </p:nvSpPr>
        <p:spPr>
          <a:xfrm>
            <a:off x="5569557" y="699606"/>
            <a:ext cx="70070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/>
              <a:t>Ролі користувачів.</a:t>
            </a:r>
          </a:p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 err="1"/>
              <a:t>Use-Case</a:t>
            </a:r>
            <a:r>
              <a:rPr lang="uk-UA" noProof="0" dirty="0"/>
              <a:t> діаграма (Гість)</a:t>
            </a:r>
          </a:p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7FB69B-2E5A-1B3D-D2E7-58225461BADC}"/>
              </a:ext>
            </a:extLst>
          </p:cNvPr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271E4A-0792-50B8-E7DB-E6108FE889BB}"/>
              </a:ext>
            </a:extLst>
          </p:cNvPr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1931FB-D674-CB72-89AA-A8FA531BED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45" t="12714" r="8419" b="17042"/>
          <a:stretch/>
        </p:blipFill>
        <p:spPr>
          <a:xfrm>
            <a:off x="116360" y="107434"/>
            <a:ext cx="5270980" cy="2532810"/>
          </a:xfrm>
          <a:prstGeom prst="roundRect">
            <a:avLst>
              <a:gd name="adj" fmla="val 8054"/>
            </a:avLst>
          </a:prstGeom>
          <a:solidFill>
            <a:srgbClr val="0F1F33"/>
          </a:solidFill>
          <a:ln w="25400">
            <a:solidFill>
              <a:srgbClr val="006C7A"/>
            </a:solidFill>
            <a:prstDash val="sysDash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DC99CF-D53F-4578-04D1-A75E57C163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53" t="10111" r="6203" b="10130"/>
          <a:stretch/>
        </p:blipFill>
        <p:spPr>
          <a:xfrm>
            <a:off x="4544008" y="2833890"/>
            <a:ext cx="7644944" cy="3905464"/>
          </a:xfrm>
          <a:prstGeom prst="roundRect">
            <a:avLst>
              <a:gd name="adj" fmla="val 8054"/>
            </a:avLst>
          </a:prstGeom>
          <a:solidFill>
            <a:srgbClr val="0F1F33"/>
          </a:solidFill>
          <a:ln w="25400">
            <a:solidFill>
              <a:srgbClr val="006C7A"/>
            </a:solidFill>
            <a:prstDash val="sysDash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378869-893B-24FC-883E-A3F1FAE59F7D}"/>
              </a:ext>
            </a:extLst>
          </p:cNvPr>
          <p:cNvSpPr txBox="1"/>
          <p:nvPr/>
        </p:nvSpPr>
        <p:spPr>
          <a:xfrm>
            <a:off x="367820" y="4111304"/>
            <a:ext cx="37897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 err="1"/>
              <a:t>Use-Case</a:t>
            </a:r>
            <a:r>
              <a:rPr lang="uk-UA" noProof="0" dirty="0"/>
              <a:t> діаграма (Адміністратор)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D6379-5547-DF41-F05A-B58AA991F3DE}"/>
              </a:ext>
            </a:extLst>
          </p:cNvPr>
          <p:cNvSpPr txBox="1"/>
          <p:nvPr/>
        </p:nvSpPr>
        <p:spPr>
          <a:xfrm>
            <a:off x="11430000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>
                <a:solidFill>
                  <a:srgbClr val="002060"/>
                </a:solidFill>
                <a:latin typeface="Segoe UI"/>
                <a:cs typeface="Segoe UI"/>
              </a:rPr>
              <a:t>5</a:t>
            </a:r>
            <a:endParaRPr lang="uk-UA" sz="1600" b="1" noProof="0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576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50620" y="19049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 err="1"/>
              <a:t>Use-Case</a:t>
            </a:r>
            <a:r>
              <a:rPr lang="uk-UA" noProof="0" dirty="0"/>
              <a:t> діаграма (Користувач)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9680" y="814614"/>
            <a:ext cx="9563100" cy="45719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523B22-FF5F-C070-DD5C-49DC10826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89" y="888567"/>
            <a:ext cx="10295111" cy="5730089"/>
          </a:xfrm>
          <a:prstGeom prst="roundRect">
            <a:avLst>
              <a:gd name="adj" fmla="val 8054"/>
            </a:avLst>
          </a:prstGeom>
          <a:solidFill>
            <a:srgbClr val="0F1F33"/>
          </a:solidFill>
          <a:ln w="25400">
            <a:solidFill>
              <a:srgbClr val="006C7A"/>
            </a:solidFill>
            <a:prstDash val="sysDash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10924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/>
              <a:t>Алгоритм визначення придатності до OLAP аналізу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>
                <a:solidFill>
                  <a:srgbClr val="002060"/>
                </a:solidFill>
                <a:latin typeface="Segoe UI"/>
                <a:cs typeface="Segoe UI"/>
              </a:rPr>
              <a:t>7</a:t>
            </a:r>
            <a:endParaRPr lang="uk-UA" sz="1600" b="1" noProof="0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rPr lang="uk-UA" noProof="0" dirty="0"/>
              <a:t>Фактори, що аналізуються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844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9" name="Rectangle 8"/>
          <p:cNvSpPr/>
          <p:nvPr/>
        </p:nvSpPr>
        <p:spPr>
          <a:xfrm>
            <a:off x="548640" y="1874520"/>
            <a:ext cx="54864" cy="96012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731519" y="1901952"/>
            <a:ext cx="55201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1B2A"/>
                </a:solidFill>
                <a:latin typeface="Segoe UI"/>
              </a:defRPr>
            </a:pPr>
            <a:r>
              <a:rPr lang="uk-UA" sz="1600" noProof="0" dirty="0"/>
              <a:t>Виміри (</a:t>
            </a:r>
            <a:r>
              <a:rPr lang="uk-UA" sz="1600" noProof="0" dirty="0" err="1"/>
              <a:t>Dimensions</a:t>
            </a:r>
            <a:r>
              <a:rPr lang="uk-UA" sz="1600" noProof="0" dirty="0"/>
              <a:t>)</a:t>
            </a:r>
          </a:p>
          <a:p>
            <a:pPr>
              <a:defRPr sz="1200">
                <a:solidFill>
                  <a:srgbClr val="37474F"/>
                </a:solidFill>
                <a:latin typeface="Segoe UI"/>
              </a:defRPr>
            </a:pPr>
            <a:r>
              <a:rPr lang="uk-UA" sz="1400" noProof="0" dirty="0"/>
              <a:t>Категоріальні поля з прийнятною </a:t>
            </a:r>
            <a:r>
              <a:rPr lang="uk-UA" sz="1400" noProof="0" dirty="0" err="1"/>
              <a:t>кардинальністю</a:t>
            </a:r>
            <a:r>
              <a:rPr lang="uk-UA" sz="1400" noProof="0" dirty="0"/>
              <a:t>.</a:t>
            </a:r>
            <a:br>
              <a:rPr lang="uk-UA" sz="1400" noProof="0" dirty="0"/>
            </a:br>
            <a:r>
              <a:rPr lang="uk-UA" sz="1400" noProof="0" dirty="0"/>
              <a:t>Оцінка: </a:t>
            </a:r>
            <a:r>
              <a:rPr lang="uk-UA" sz="1400" noProof="0" dirty="0" err="1"/>
              <a:t>null</a:t>
            </a:r>
            <a:r>
              <a:rPr lang="uk-UA" sz="1400" noProof="0" dirty="0"/>
              <a:t>-частка, унікальність, семантика (ID/дата/категорія).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45536"/>
            <a:ext cx="54844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48640" y="3191256"/>
            <a:ext cx="54864" cy="960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502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1B2A"/>
                </a:solidFill>
                <a:latin typeface="Segoe UI"/>
              </a:defRPr>
            </a:pPr>
            <a:r>
              <a:rPr lang="uk-UA" sz="1600" noProof="0" dirty="0"/>
              <a:t>Міри (</a:t>
            </a:r>
            <a:r>
              <a:rPr lang="uk-UA" sz="1600" noProof="0" dirty="0" err="1"/>
              <a:t>Measures</a:t>
            </a:r>
            <a:r>
              <a:rPr lang="uk-UA" sz="1600" noProof="0" dirty="0"/>
              <a:t>)</a:t>
            </a:r>
          </a:p>
          <a:p>
            <a:pPr>
              <a:defRPr sz="1200">
                <a:solidFill>
                  <a:srgbClr val="37474F"/>
                </a:solidFill>
                <a:latin typeface="Segoe UI"/>
              </a:defRPr>
            </a:pPr>
            <a:r>
              <a:rPr lang="uk-UA" sz="1400" noProof="0" dirty="0"/>
              <a:t>Числові поля, придатні для агрегації.</a:t>
            </a:r>
            <a:br>
              <a:rPr lang="uk-UA" sz="1400" noProof="0" dirty="0"/>
            </a:br>
            <a:r>
              <a:rPr lang="uk-UA" sz="1400" noProof="0" dirty="0"/>
              <a:t>Оцінка: дисперсія, </a:t>
            </a:r>
            <a:r>
              <a:rPr lang="uk-UA" sz="1400" noProof="0" dirty="0" err="1"/>
              <a:t>виброси</a:t>
            </a:r>
            <a:r>
              <a:rPr lang="uk-UA" sz="1400" noProof="0" dirty="0"/>
              <a:t>, нулі, діапазон значень.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66844"/>
            <a:ext cx="54844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5" name="Rectangle 14"/>
          <p:cNvSpPr/>
          <p:nvPr/>
        </p:nvSpPr>
        <p:spPr>
          <a:xfrm>
            <a:off x="548640" y="4512564"/>
            <a:ext cx="54864" cy="960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31520" y="4539996"/>
            <a:ext cx="502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1B2A"/>
                </a:solidFill>
                <a:latin typeface="Segoe UI"/>
              </a:defRPr>
            </a:pPr>
            <a:r>
              <a:rPr lang="uk-UA" sz="1600" noProof="0" dirty="0"/>
              <a:t>Часові поля (</a:t>
            </a:r>
            <a:r>
              <a:rPr lang="uk-UA" sz="1600" noProof="0" dirty="0" err="1"/>
              <a:t>Temporal</a:t>
            </a:r>
            <a:r>
              <a:rPr lang="uk-UA" sz="1600" noProof="0" dirty="0"/>
              <a:t>)</a:t>
            </a:r>
          </a:p>
          <a:p>
            <a:pPr>
              <a:defRPr sz="1200">
                <a:solidFill>
                  <a:srgbClr val="37474F"/>
                </a:solidFill>
                <a:latin typeface="Segoe UI"/>
              </a:defRPr>
            </a:pPr>
            <a:r>
              <a:rPr lang="uk-UA" sz="1400" noProof="0" dirty="0"/>
              <a:t>Автоматичне виявлення дат та побудова ієрархій:</a:t>
            </a:r>
            <a:br>
              <a:rPr lang="uk-UA" sz="1400" noProof="0" dirty="0"/>
            </a:br>
            <a:r>
              <a:rPr lang="uk-UA" sz="1400" noProof="0" dirty="0" err="1"/>
              <a:t>Year</a:t>
            </a:r>
            <a:r>
              <a:rPr lang="uk-UA" sz="1400" noProof="0" dirty="0"/>
              <a:t> → </a:t>
            </a:r>
            <a:r>
              <a:rPr lang="uk-UA" sz="1400" noProof="0" dirty="0" err="1"/>
              <a:t>Quarter</a:t>
            </a:r>
            <a:r>
              <a:rPr lang="uk-UA" sz="1400" noProof="0" dirty="0"/>
              <a:t> → </a:t>
            </a:r>
            <a:r>
              <a:rPr lang="uk-UA" sz="1400" noProof="0" dirty="0" err="1"/>
              <a:t>Month</a:t>
            </a:r>
            <a:r>
              <a:rPr lang="uk-UA" sz="1400" noProof="0" dirty="0"/>
              <a:t> → </a:t>
            </a:r>
            <a:r>
              <a:rPr lang="uk-UA" sz="1400" noProof="0" dirty="0" err="1"/>
              <a:t>Day</a:t>
            </a:r>
            <a:r>
              <a:rPr lang="uk-UA" sz="1400" noProof="0"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Segoe UI"/>
              </a:defRPr>
            </a:pPr>
            <a:r>
              <a:rPr lang="uk-UA" noProof="0" dirty="0" err="1"/>
              <a:t>Датасет</a:t>
            </a:r>
            <a:r>
              <a:rPr lang="uk-UA" noProof="0" dirty="0"/>
              <a:t> придатний до OLAP аналізу, якщо: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5029200" cy="43891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D1B2A"/>
                </a:solidFill>
                <a:latin typeface="Segoe UI"/>
              </a:defRPr>
            </a:pPr>
            <a:r>
              <a:rPr lang="uk-UA" sz="1600" noProof="0" dirty="0"/>
              <a:t>   ✓  ≥ 1 «якісний» вимір  (</a:t>
            </a:r>
            <a:r>
              <a:rPr lang="uk-UA" sz="1600" noProof="0" dirty="0" err="1"/>
              <a:t>final_score</a:t>
            </a:r>
            <a:r>
              <a:rPr lang="uk-UA" sz="1600" noProof="0" dirty="0"/>
              <a:t> ≥ 0.7)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865376"/>
            <a:ext cx="457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0" name="Rounded Rectangle 19"/>
          <p:cNvSpPr/>
          <p:nvPr/>
        </p:nvSpPr>
        <p:spPr>
          <a:xfrm>
            <a:off x="6400800" y="2427732"/>
            <a:ext cx="5029200" cy="43891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D1B2A"/>
                </a:solidFill>
                <a:latin typeface="Segoe UI"/>
              </a:defRPr>
            </a:pPr>
            <a:r>
              <a:rPr lang="uk-UA" sz="1600" noProof="0" dirty="0"/>
              <a:t>   ✓  ≥ 1 «якісна» міра  (</a:t>
            </a:r>
            <a:r>
              <a:rPr lang="uk-UA" sz="1600" noProof="0" dirty="0" err="1"/>
              <a:t>final_score</a:t>
            </a:r>
            <a:r>
              <a:rPr lang="uk-UA" sz="1600" noProof="0" dirty="0"/>
              <a:t> ≥ 0.7)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464308"/>
            <a:ext cx="457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6400800" y="3031236"/>
            <a:ext cx="5029200" cy="43891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D1B2A"/>
                </a:solidFill>
                <a:latin typeface="Segoe UI"/>
              </a:defRPr>
            </a:pPr>
            <a:r>
              <a:rPr lang="uk-UA" sz="1600" noProof="0" dirty="0"/>
              <a:t>   ✓  Інтегральний показник якості ≥ 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67812"/>
            <a:ext cx="457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6400800" y="3634740"/>
            <a:ext cx="5029200" cy="43891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D1B2A"/>
                </a:solidFill>
                <a:latin typeface="Segoe UI"/>
              </a:defRPr>
            </a:pPr>
            <a:r>
              <a:rPr lang="uk-UA" sz="1600" noProof="0" dirty="0"/>
              <a:t>   ✓  Кількість рядків ≥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671316"/>
            <a:ext cx="457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6" name="Rounded Rectangle 25"/>
          <p:cNvSpPr/>
          <p:nvPr/>
        </p:nvSpPr>
        <p:spPr>
          <a:xfrm>
            <a:off x="6400800" y="4224528"/>
            <a:ext cx="5029200" cy="914400"/>
          </a:xfrm>
          <a:prstGeom prst="roundRect">
            <a:avLst>
              <a:gd name="adj" fmla="val 9334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BCD4"/>
                </a:solidFill>
                <a:latin typeface="Segoe UI"/>
              </a:defRPr>
            </a:pPr>
            <a:r>
              <a:rPr lang="uk-UA" sz="1400" noProof="0" dirty="0"/>
              <a:t>Інтегральний показник:</a:t>
            </a:r>
          </a:p>
          <a:p>
            <a:pPr>
              <a:defRPr sz="1200">
                <a:solidFill>
                  <a:srgbClr val="B2EBF2"/>
                </a:solidFill>
                <a:latin typeface="Consolas"/>
              </a:defRPr>
            </a:pPr>
            <a:r>
              <a:rPr lang="uk-UA" sz="1400" noProof="0" dirty="0" err="1"/>
              <a:t>overall_score</a:t>
            </a:r>
            <a:r>
              <a:rPr lang="uk-UA" sz="1400" noProof="0" dirty="0"/>
              <a:t> = 0.5 × </a:t>
            </a:r>
            <a:r>
              <a:rPr lang="uk-UA" sz="1400" noProof="0" dirty="0" err="1"/>
              <a:t>avg</a:t>
            </a:r>
            <a:r>
              <a:rPr lang="uk-UA" sz="1400" noProof="0" dirty="0"/>
              <a:t>(</a:t>
            </a:r>
            <a:r>
              <a:rPr lang="uk-UA" sz="1400" noProof="0" dirty="0" err="1"/>
              <a:t>dim_scores</a:t>
            </a:r>
            <a:r>
              <a:rPr lang="uk-UA" sz="1400" noProof="0" dirty="0"/>
              <a:t>) + 0.5 × </a:t>
            </a:r>
            <a:r>
              <a:rPr lang="uk-UA" sz="1400" noProof="0" dirty="0" err="1"/>
              <a:t>avg</a:t>
            </a:r>
            <a:r>
              <a:rPr lang="uk-UA" sz="1400" noProof="0" dirty="0"/>
              <a:t>(</a:t>
            </a:r>
            <a:r>
              <a:rPr lang="uk-UA" sz="1400" noProof="0" dirty="0" err="1"/>
              <a:t>measure_scores</a:t>
            </a:r>
            <a:r>
              <a:rPr lang="uk-UA" sz="1400" noProof="0" dirty="0"/>
              <a:t>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9" name="Rectangle 28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6400800" y="5321808"/>
            <a:ext cx="5654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noProof="0" dirty="0"/>
              <a:t>Альтернатива: </a:t>
            </a:r>
            <a:br>
              <a:rPr lang="uk-UA" noProof="0" dirty="0"/>
            </a:br>
            <a:r>
              <a:rPr lang="uk-UA" noProof="0" dirty="0"/>
              <a:t>якщо розширений аналіз недоступний – проста перевірка наявності числових і нечислових колонок.</a:t>
            </a:r>
          </a:p>
          <a:p>
            <a:endParaRPr lang="uk-UA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64241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sz="3200" b="1" noProof="0" dirty="0">
                <a:solidFill>
                  <a:srgbClr val="FFFFFF"/>
                </a:solidFill>
                <a:latin typeface="Segoe UI"/>
              </a:rPr>
              <a:t>Діаграма активності – аналіз якості даних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22959"/>
            <a:ext cx="10281920" cy="57777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2E23E7-809F-CB39-0E34-1E5845A57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7" y="907817"/>
            <a:ext cx="11029166" cy="5813023"/>
          </a:xfrm>
          <a:prstGeom prst="roundRect">
            <a:avLst>
              <a:gd name="adj" fmla="val 4345"/>
            </a:avLst>
          </a:prstGeom>
          <a:solidFill>
            <a:srgbClr val="0F1F33"/>
          </a:solidFill>
          <a:ln w="25400">
            <a:solidFill>
              <a:srgbClr val="006C7A"/>
            </a:solidFill>
            <a:prstDash val="sysDash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13D3640-C1AA-F62B-5C91-953A53767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40" y="1074420"/>
            <a:ext cx="10782300" cy="5638800"/>
          </a:xfrm>
          <a:prstGeom prst="roundRect">
            <a:avLst>
              <a:gd name="adj" fmla="val 372"/>
            </a:avLst>
          </a:prstGeom>
          <a:solidFill>
            <a:srgbClr val="0F1F33"/>
          </a:solidFill>
          <a:ln w="25400">
            <a:solidFill>
              <a:srgbClr val="006C7A"/>
            </a:solidFill>
            <a:prstDash val="sysDash"/>
          </a:ln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33165" y="183062"/>
            <a:ext cx="4851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/>
              <a:t>Архітектура системи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0245" y="1645771"/>
            <a:ext cx="540043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74F"/>
                </a:solidFill>
                <a:latin typeface="Segoe UI"/>
              </a:defRPr>
            </a:pPr>
            <a:r>
              <a:rPr lang="uk-UA" noProof="0" dirty="0"/>
              <a:t>Клієнт-серверна архітектура з розгортанням через </a:t>
            </a:r>
            <a:r>
              <a:rPr lang="uk-UA" noProof="0" dirty="0" err="1"/>
              <a:t>Docker</a:t>
            </a:r>
            <a:r>
              <a:rPr lang="uk-UA" noProof="0" dirty="0"/>
              <a:t> </a:t>
            </a:r>
            <a:r>
              <a:rPr lang="uk-UA" noProof="0" dirty="0" err="1"/>
              <a:t>Compose</a:t>
            </a:r>
            <a:r>
              <a:rPr lang="uk-UA" noProof="0" dirty="0"/>
              <a:t>.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35127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rgbClr val="002060"/>
                </a:solidFill>
                <a:latin typeface="Segoe UI"/>
                <a:cs typeface="Segoe U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/>
              <a:t>Використані технології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007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dirty="0">
                <a:solidFill>
                  <a:srgbClr val="002060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4114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BCD4"/>
                </a:solidFill>
                <a:latin typeface="Segoe UI"/>
              </a:defRPr>
            </a:pPr>
            <a:r>
              <a:rPr lang="uk-UA" noProof="0" dirty="0"/>
              <a:t>  </a:t>
            </a:r>
            <a:r>
              <a:rPr lang="uk-UA" noProof="0" dirty="0">
                <a:solidFill>
                  <a:srgbClr val="00BCD4"/>
                </a:solidFill>
              </a:rPr>
              <a:t>Серверна</a:t>
            </a:r>
            <a:r>
              <a:rPr lang="uk-UA" noProof="0" dirty="0"/>
              <a:t> частина (</a:t>
            </a:r>
            <a:r>
              <a:rPr lang="uk-UA" noProof="0" dirty="0" err="1"/>
              <a:t>Backend</a:t>
            </a:r>
            <a:r>
              <a:rPr lang="uk-UA" noProof="0" dirty="0"/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303520" cy="4114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BCD4"/>
                </a:solidFill>
                <a:latin typeface="Segoe UI"/>
              </a:defRPr>
            </a:pPr>
            <a:r>
              <a:rPr lang="uk-UA" noProof="0" dirty="0"/>
              <a:t>  Клієнтська частина (</a:t>
            </a:r>
            <a:r>
              <a:rPr lang="uk-UA" noProof="0" dirty="0" err="1"/>
              <a:t>Frontend</a:t>
            </a:r>
            <a:r>
              <a:rPr lang="uk-UA" noProof="0" dirty="0"/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280160"/>
            <a:ext cx="18288" cy="41148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6851820-EB20-5088-A908-26212365F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595" t="30791" r="31864" b="21877"/>
          <a:stretch>
            <a:fillRect/>
          </a:stretch>
        </p:blipFill>
        <p:spPr>
          <a:xfrm>
            <a:off x="356792" y="2569487"/>
            <a:ext cx="1090827" cy="1057157"/>
          </a:xfrm>
          <a:prstGeom prst="rect">
            <a:avLst/>
          </a:prstGeom>
        </p:spPr>
      </p:pic>
      <p:pic>
        <p:nvPicPr>
          <p:cNvPr id="1026" name="Picture 2" descr="FastAPI">
            <a:extLst>
              <a:ext uri="{FF2B5EF4-FFF2-40B4-BE49-F238E27FC236}">
                <a16:creationId xmlns:a16="http://schemas.microsoft.com/office/drawing/2014/main" id="{83024DB1-7718-5395-85B5-AD0BE1D8F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434" y="1795898"/>
            <a:ext cx="2383792" cy="85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uvicorn · PyPI">
            <a:extLst>
              <a:ext uri="{FF2B5EF4-FFF2-40B4-BE49-F238E27FC236}">
                <a16:creationId xmlns:a16="http://schemas.microsoft.com/office/drawing/2014/main" id="{3CB07CD5-17B0-A850-1871-DE92C8558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337" y="1795898"/>
            <a:ext cx="1288976" cy="1288976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B9C4C94-B526-D8AE-9332-BB0E931EA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741" y="3392612"/>
            <a:ext cx="1407423" cy="7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lembic · GitHub">
            <a:extLst>
              <a:ext uri="{FF2B5EF4-FFF2-40B4-BE49-F238E27FC236}">
                <a16:creationId xmlns:a16="http://schemas.microsoft.com/office/drawing/2014/main" id="{282B6916-5D14-6321-F4D9-A8A17D59B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857" b="92143" l="10000" r="90000">
                        <a14:foregroundMark x1="25357" y1="83214" x2="25357" y2="83214"/>
                        <a14:foregroundMark x1="30714" y1="86071" x2="30714" y2="86071"/>
                        <a14:foregroundMark x1="38929" y1="84643" x2="38929" y2="84643"/>
                        <a14:foregroundMark x1="50357" y1="82143" x2="50357" y2="82143"/>
                        <a14:foregroundMark x1="62500" y1="84286" x2="62500" y2="84286"/>
                        <a14:foregroundMark x1="68214" y1="82857" x2="68214" y2="82857"/>
                        <a14:foregroundMark x1="73571" y1="82143" x2="73571" y2="82143"/>
                        <a14:foregroundMark x1="51429" y1="26071" x2="51429" y2="26071"/>
                        <a14:foregroundMark x1="47143" y1="8571" x2="47143" y2="8571"/>
                        <a14:foregroundMark x1="34286" y1="91071" x2="34286" y2="91071"/>
                        <a14:foregroundMark x1="42857" y1="92143" x2="42857" y2="92143"/>
                        <a14:backgroundMark x1="23571" y1="87500" x2="23571" y2="8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02" y="3601546"/>
            <a:ext cx="1244197" cy="124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Postgresql plain wordmark logo - free Icon PNG, SVG">
            <a:extLst>
              <a:ext uri="{FF2B5EF4-FFF2-40B4-BE49-F238E27FC236}">
                <a16:creationId xmlns:a16="http://schemas.microsoft.com/office/drawing/2014/main" id="{84179F76-B516-B75B-1BF4-45F4DC87EA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1087" y="2688206"/>
            <a:ext cx="1084846" cy="108484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BB4770E-5BBF-7237-FF60-E9B671F77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878" y="3766646"/>
            <a:ext cx="1325371" cy="102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toti repositories · GitHub">
            <a:extLst>
              <a:ext uri="{FF2B5EF4-FFF2-40B4-BE49-F238E27FC236}">
                <a16:creationId xmlns:a16="http://schemas.microsoft.com/office/drawing/2014/main" id="{500E42F4-8D66-F209-70CA-78C7A95B0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90" y="5010335"/>
            <a:ext cx="835687" cy="8356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706DD35A-7BE4-FE1B-5978-D4408359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828" y="4964615"/>
            <a:ext cx="1038605" cy="10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What is Docker ? How to use it ? - NashTech Blog">
            <a:extLst>
              <a:ext uri="{FF2B5EF4-FFF2-40B4-BE49-F238E27FC236}">
                <a16:creationId xmlns:a16="http://schemas.microsoft.com/office/drawing/2014/main" id="{30AD5E14-8375-4F38-A59E-9156F6820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827" y="5196882"/>
            <a:ext cx="1813710" cy="102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React Native - Wikipedia">
            <a:extLst>
              <a:ext uri="{FF2B5EF4-FFF2-40B4-BE49-F238E27FC236}">
                <a16:creationId xmlns:a16="http://schemas.microsoft.com/office/drawing/2014/main" id="{1617CCB2-B1CD-9096-60AE-D2FC63881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134" y="2058060"/>
            <a:ext cx="858834" cy="764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4EA5856C-CA31-ABE6-28FA-70218E01B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423" y="2043591"/>
            <a:ext cx="852014" cy="83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TypeScript - Wikipedia">
            <a:extLst>
              <a:ext uri="{FF2B5EF4-FFF2-40B4-BE49-F238E27FC236}">
                <a16:creationId xmlns:a16="http://schemas.microsoft.com/office/drawing/2014/main" id="{E0DC92A3-BC67-F68A-0E8B-18A05995E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622" y="2624313"/>
            <a:ext cx="630405" cy="63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 descr="TanStack Router (SPA) starter kit - Saas UI">
            <a:extLst>
              <a:ext uri="{FF2B5EF4-FFF2-40B4-BE49-F238E27FC236}">
                <a16:creationId xmlns:a16="http://schemas.microsoft.com/office/drawing/2014/main" id="{339DB395-F6B6-ACBE-6EAA-7CE5BE75379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9323" y="3933893"/>
            <a:ext cx="815192" cy="81519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082B0D6B-487C-5139-BAA1-45C8D5CE21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41513" y="2494425"/>
            <a:ext cx="934575" cy="934575"/>
          </a:xfrm>
          <a:prstGeom prst="rect">
            <a:avLst/>
          </a:prstGeom>
        </p:spPr>
      </p:pic>
      <p:pic>
        <p:nvPicPr>
          <p:cNvPr id="1068" name="Picture 44" descr="Rizqi Reza">
            <a:extLst>
              <a:ext uri="{FF2B5EF4-FFF2-40B4-BE49-F238E27FC236}">
                <a16:creationId xmlns:a16="http://schemas.microsoft.com/office/drawing/2014/main" id="{EFA1D17A-7E28-5FE1-4642-FC6CED53F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750" y="3416614"/>
            <a:ext cx="1978352" cy="50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E6147201-EFFE-B7DB-4710-678FBFA22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680240" y="4000602"/>
            <a:ext cx="893031" cy="888631"/>
          </a:xfrm>
          <a:prstGeom prst="rect">
            <a:avLst/>
          </a:prstGeom>
        </p:spPr>
      </p:pic>
      <p:pic>
        <p:nvPicPr>
          <p:cNvPr id="1078" name="Picture 54" descr="jspdf - npm">
            <a:extLst>
              <a:ext uri="{FF2B5EF4-FFF2-40B4-BE49-F238E27FC236}">
                <a16:creationId xmlns:a16="http://schemas.microsoft.com/office/drawing/2014/main" id="{2B6F6990-D49B-ECD4-59C4-4C622F47D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888" y="5350120"/>
            <a:ext cx="2018633" cy="67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 descr="Download the html2canvas Latest Version | HTML2Canvas">
            <a:extLst>
              <a:ext uri="{FF2B5EF4-FFF2-40B4-BE49-F238E27FC236}">
                <a16:creationId xmlns:a16="http://schemas.microsoft.com/office/drawing/2014/main" id="{30BE849E-3FCB-189B-CA43-C0BE79C1A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653" y="4376291"/>
            <a:ext cx="1703449" cy="688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TOP 15 JavaScript Data Visualization Libraries to use - InApps">
            <a:extLst>
              <a:ext uri="{FF2B5EF4-FFF2-40B4-BE49-F238E27FC236}">
                <a16:creationId xmlns:a16="http://schemas.microsoft.com/office/drawing/2014/main" id="{2A7B2E64-D0A5-D6DF-C04D-710A0C509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390" y="5240306"/>
            <a:ext cx="1402610" cy="77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17979" y="248271"/>
            <a:ext cx="119708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/>
              <a:t>Діаграма послідовності – AI-генерація запитів</a:t>
            </a:r>
          </a:p>
        </p:txBody>
      </p:sp>
      <p:sp>
        <p:nvSpPr>
          <p:cNvPr id="4" name="Rectangle 3"/>
          <p:cNvSpPr/>
          <p:nvPr/>
        </p:nvSpPr>
        <p:spPr>
          <a:xfrm>
            <a:off x="217980" y="813817"/>
            <a:ext cx="3256740" cy="45719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C95B85-E62B-C3E4-CA51-B4332393B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8" y="917967"/>
            <a:ext cx="11980188" cy="5744444"/>
          </a:xfrm>
          <a:prstGeom prst="roundRect">
            <a:avLst>
              <a:gd name="adj" fmla="val 1293"/>
            </a:avLst>
          </a:prstGeom>
          <a:solidFill>
            <a:srgbClr val="0F1F33"/>
          </a:solidFill>
          <a:ln w="25400">
            <a:solidFill>
              <a:srgbClr val="006C7A"/>
            </a:solidFill>
            <a:prstDash val="sysDash"/>
          </a:ln>
        </p:spPr>
      </p:pic>
      <p:sp>
        <p:nvSpPr>
          <p:cNvPr id="6" name="TextBox 5"/>
          <p:cNvSpPr txBox="1"/>
          <p:nvPr/>
        </p:nvSpPr>
        <p:spPr>
          <a:xfrm>
            <a:off x="11430000" y="6311815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rgbClr val="002060"/>
                </a:solidFill>
                <a:latin typeface="Segoe UI"/>
                <a:cs typeface="Segoe UI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638A5-BEE0-628E-24FD-1B0948D6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07BDCD-ED21-F671-368E-8B9640BF8CFE}"/>
              </a:ext>
            </a:extLst>
          </p:cNvPr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3C6B9-EF67-0FD5-9B9E-DB40EAAA925D}"/>
              </a:ext>
            </a:extLst>
          </p:cNvPr>
          <p:cNvSpPr txBox="1"/>
          <p:nvPr/>
        </p:nvSpPr>
        <p:spPr>
          <a:xfrm>
            <a:off x="217979" y="248271"/>
            <a:ext cx="119708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dirty="0"/>
              <a:t>Інтерфейс користувача</a:t>
            </a:r>
            <a:endParaRPr lang="uk-UA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D43CA8-C812-7477-9BE6-E3F75B303D12}"/>
              </a:ext>
            </a:extLst>
          </p:cNvPr>
          <p:cNvSpPr/>
          <p:nvPr/>
        </p:nvSpPr>
        <p:spPr>
          <a:xfrm>
            <a:off x="217980" y="813817"/>
            <a:ext cx="3256740" cy="45719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C333E-85C0-4341-33D7-1407294D8643}"/>
              </a:ext>
            </a:extLst>
          </p:cNvPr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629FB-62E6-36AD-86EF-64108B99D16E}"/>
              </a:ext>
            </a:extLst>
          </p:cNvPr>
          <p:cNvSpPr txBox="1"/>
          <p:nvPr/>
        </p:nvSpPr>
        <p:spPr>
          <a:xfrm>
            <a:off x="11605085" y="6363772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chemeClr val="bg1"/>
                </a:solidFill>
                <a:latin typeface="Segoe UI"/>
                <a:cs typeface="Segoe UI"/>
              </a:rPr>
              <a:t>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5D6B57-311C-7595-7F2F-98C6A4A65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19" y="2228168"/>
            <a:ext cx="5554980" cy="26885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EB4F0A-FEB1-C3EA-43F3-415EE5625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944157"/>
            <a:ext cx="5554980" cy="26885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7B6F56-BFB3-5339-BC59-57F95560B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12" y="3921205"/>
            <a:ext cx="5554980" cy="268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4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sz="2800" b="1" noProof="0">
                <a:solidFill>
                  <a:srgbClr val="FFFFFF"/>
                </a:solidFill>
                <a:latin typeface="Segoe UI"/>
                <a:cs typeface="Segoe UI"/>
              </a:rPr>
              <a:t>Тестування: продуктивність та навантаження</a:t>
            </a:r>
            <a:endParaRPr lang="uk-UA" sz="2800" b="1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dirty="0">
                <a:solidFill>
                  <a:srgbClr val="002060"/>
                </a:solidFill>
                <a:latin typeface="Segoe UI"/>
                <a:cs typeface="Segoe UI"/>
              </a:rPr>
              <a:t>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8AF2E-9056-4909-BB44-741E93E87212}"/>
              </a:ext>
            </a:extLst>
          </p:cNvPr>
          <p:cNvSpPr txBox="1"/>
          <p:nvPr/>
        </p:nvSpPr>
        <p:spPr>
          <a:xfrm>
            <a:off x="508000" y="12192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b="1">
                <a:solidFill>
                  <a:srgbClr val="00BCD4"/>
                </a:solidFill>
                <a:latin typeface="Segoe UI"/>
                <a:cs typeface="Segoe UI"/>
              </a:rPr>
              <a:t>Продуктивність </a:t>
            </a:r>
            <a:r>
              <a:rPr lang="en-US" b="1">
                <a:solidFill>
                  <a:srgbClr val="00BCD4"/>
                </a:solidFill>
                <a:latin typeface="Segoe UI"/>
                <a:cs typeface="Segoe UI"/>
              </a:rPr>
              <a:t>API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85C9A-7AC5-4956-81D2-BFBFAF904A9A}"/>
              </a:ext>
            </a:extLst>
          </p:cNvPr>
          <p:cNvSpPr txBox="1"/>
          <p:nvPr/>
        </p:nvSpPr>
        <p:spPr>
          <a:xfrm>
            <a:off x="6350000" y="1219200"/>
            <a:ext cx="558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ru-RU" b="1" dirty="0" err="1">
                <a:solidFill>
                  <a:srgbClr val="00BCD4"/>
                </a:solidFill>
                <a:latin typeface="Segoe UI"/>
                <a:cs typeface="Segoe UI"/>
              </a:rPr>
              <a:t>Навантажувальне</a:t>
            </a:r>
            <a:r>
              <a:rPr lang="ru-RU" b="1" dirty="0">
                <a:solidFill>
                  <a:srgbClr val="00BCD4"/>
                </a:solidFill>
                <a:latin typeface="Segoe UI"/>
                <a:cs typeface="Segoe UI"/>
              </a:rPr>
              <a:t> </a:t>
            </a:r>
            <a:r>
              <a:rPr lang="ru-RU" b="1" dirty="0" err="1">
                <a:solidFill>
                  <a:srgbClr val="00BCD4"/>
                </a:solidFill>
                <a:latin typeface="Segoe UI"/>
                <a:cs typeface="Segoe UI"/>
              </a:rPr>
              <a:t>тестування</a:t>
            </a:r>
            <a:r>
              <a:rPr lang="ru-RU" b="1" dirty="0">
                <a:solidFill>
                  <a:srgbClr val="00BCD4"/>
                </a:solidFill>
                <a:latin typeface="Segoe UI"/>
                <a:cs typeface="Segoe UI"/>
              </a:rPr>
              <a:t> (</a:t>
            </a:r>
            <a:r>
              <a:rPr lang="uk-UA" b="1" dirty="0" err="1">
                <a:solidFill>
                  <a:srgbClr val="00BCD4"/>
                </a:solidFill>
                <a:latin typeface="Segoe UI"/>
                <a:cs typeface="Segoe UI"/>
              </a:rPr>
              <a:t>Locust</a:t>
            </a:r>
            <a:r>
              <a:rPr lang="en-US" b="1" dirty="0">
                <a:solidFill>
                  <a:srgbClr val="00BCD4"/>
                </a:solidFill>
                <a:latin typeface="Segoe UI"/>
                <a:cs typeface="Segoe UI"/>
              </a:rPr>
              <a:t>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2156396-312E-487E-97B7-6A366BD85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769907"/>
              </p:ext>
            </p:extLst>
          </p:nvPr>
        </p:nvGraphicFramePr>
        <p:xfrm>
          <a:off x="508000" y="1651000"/>
          <a:ext cx="5588000" cy="2498634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3592272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471175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8690016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6809041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Операція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p95, мс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RPS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Помилки, %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69323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POST /login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332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0,00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6042784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GET /datasets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83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41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0,00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32315266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GET /cubes/{id}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98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33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0,00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59575615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POST /sql-query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658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45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0,11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09456772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POST /mdx-query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1 832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33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0,39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88142181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Разом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1 180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158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0,11</a:t>
                      </a:r>
                    </a:p>
                  </a:txBody>
                  <a:tcPr marT="45357" marB="4535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00172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420016D-5486-48AD-A1EE-2A431F5E4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20474"/>
              </p:ext>
            </p:extLst>
          </p:nvPr>
        </p:nvGraphicFramePr>
        <p:xfrm>
          <a:off x="6350000" y="1651000"/>
          <a:ext cx="5588000" cy="235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925630656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7927625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5579103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56581749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8182255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VU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RPS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p95, мс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CPU, %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Стан системи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70335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280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стабільно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60362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стабільно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7423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E65100"/>
                          </a:solidFill>
                          <a:latin typeface="Segoe UI"/>
                          <a:cs typeface="Segoe UI"/>
                        </a:rPr>
                        <a:t>близько до межі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93383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1 180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робоче навантаження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29301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171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2 240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деградація p95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454140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1158A2F-1539-4F3E-8B53-5FD19975E304}"/>
              </a:ext>
            </a:extLst>
          </p:cNvPr>
          <p:cNvSpPr/>
          <p:nvPr/>
        </p:nvSpPr>
        <p:spPr>
          <a:xfrm>
            <a:off x="508000" y="4851400"/>
            <a:ext cx="11430000" cy="1219200"/>
          </a:xfrm>
          <a:prstGeom prst="roundRect">
            <a:avLst/>
          </a:prstGeom>
          <a:solidFill>
            <a:srgbClr val="0D1B2A"/>
          </a:solidFill>
          <a:ln w="12700" cap="flat" cmpd="sng" algn="ctr">
            <a:solidFill>
              <a:srgbClr val="00BCD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lIns="228600" tIns="127000" rIns="228600" bIns="127000" rtlCol="0" anchor="ctr" anchorCtr="0"/>
          <a:lstStyle/>
          <a:p>
            <a:pPr algn="l"/>
            <a:r>
              <a:rPr lang="ru-RU" sz="1600">
                <a:solidFill>
                  <a:srgbClr val="E0F7FA"/>
                </a:solidFill>
                <a:latin typeface="Segoe UI"/>
                <a:cs typeface="Segoe UI"/>
              </a:rPr>
              <a:t>Підсумок: усього виконано 95 142 запити, частка помилок — 0,11 %. Система стабільно витримує до 100 одночасних користувачів (RPS 158, CPU 89 %); деградація p95 фіксується лише на 150 VU.</a:t>
            </a:r>
            <a:endParaRPr lang="en-US" sz="1600">
              <a:solidFill>
                <a:srgbClr val="E0F7FA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6309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sz="2800" b="1" noProof="0">
                <a:solidFill>
                  <a:srgbClr val="FFFFFF"/>
                </a:solidFill>
                <a:latin typeface="Segoe UI"/>
                <a:cs typeface="Segoe UI"/>
              </a:rPr>
              <a:t>Тестування: юзабіліті та сумісність</a:t>
            </a:r>
            <a:endParaRPr lang="uk-UA" sz="2800" b="1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rgbClr val="002060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A375B-1471-4145-AA91-DB9F102F2BD4}"/>
              </a:ext>
            </a:extLst>
          </p:cNvPr>
          <p:cNvSpPr txBox="1"/>
          <p:nvPr/>
        </p:nvSpPr>
        <p:spPr>
          <a:xfrm>
            <a:off x="508000" y="1193800"/>
            <a:ext cx="558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b="1">
                <a:solidFill>
                  <a:srgbClr val="00BCD4"/>
                </a:solidFill>
                <a:latin typeface="Segoe UI"/>
                <a:cs typeface="Segoe UI"/>
              </a:rPr>
              <a:t>Юзабіліті (евристики Нільсена)</a:t>
            </a:r>
            <a:endParaRPr lang="en-US" b="1">
              <a:solidFill>
                <a:srgbClr val="00BCD4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9B4C7-571E-4079-8EB8-F228929D5014}"/>
              </a:ext>
            </a:extLst>
          </p:cNvPr>
          <p:cNvSpPr txBox="1"/>
          <p:nvPr/>
        </p:nvSpPr>
        <p:spPr>
          <a:xfrm>
            <a:off x="6350000" y="1193800"/>
            <a:ext cx="558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b="1">
                <a:solidFill>
                  <a:srgbClr val="00BCD4"/>
                </a:solidFill>
                <a:latin typeface="Segoe UI"/>
                <a:cs typeface="Segoe UI"/>
              </a:rPr>
              <a:t>Сумісність та функціональне</a:t>
            </a:r>
            <a:endParaRPr lang="en-US" b="1">
              <a:solidFill>
                <a:srgbClr val="00BCD4"/>
              </a:solidFill>
              <a:latin typeface="Segoe UI"/>
              <a:cs typeface="Segoe U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FBFAF8-5C23-4D88-B285-62B51B686870}"/>
              </a:ext>
            </a:extLst>
          </p:cNvPr>
          <p:cNvSpPr/>
          <p:nvPr/>
        </p:nvSpPr>
        <p:spPr>
          <a:xfrm>
            <a:off x="508000" y="1625600"/>
            <a:ext cx="5588000" cy="4216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Оцінено за 10 евристиками Нільсена: 7 — дотримано, 3 — частково.
Дотримано:
✓  Видимість стану (спінери, </a:t>
            </a:r>
            <a:r>
              <a:rPr lang="en-US" sz="1400">
                <a:solidFill>
                  <a:srgbClr val="37474F"/>
                </a:solidFill>
                <a:latin typeface="Segoe UI"/>
                <a:cs typeface="Segoe UI"/>
              </a:rPr>
              <a:t>toast)
✓  </a:t>
            </a:r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Звична термінологія: датасет, куб, вимір, міра
✓  Валідація формату файлу та квот проєкту
✓  Єдиний стиль компонентів (</a:t>
            </a:r>
            <a:r>
              <a:rPr lang="en-US" sz="1400">
                <a:solidFill>
                  <a:srgbClr val="37474F"/>
                </a:solidFill>
                <a:latin typeface="Segoe UI"/>
                <a:cs typeface="Segoe UI"/>
              </a:rPr>
              <a:t>Chakra UI)
✓  </a:t>
            </a:r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Зрозумілі повідомлення про помилки
Частково:
•  </a:t>
            </a:r>
            <a:r>
              <a:rPr lang="en-US" sz="1400">
                <a:solidFill>
                  <a:srgbClr val="37474F"/>
                </a:solidFill>
                <a:latin typeface="Segoe UI"/>
                <a:cs typeface="Segoe UI"/>
              </a:rPr>
              <a:t>MDX-</a:t>
            </a:r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запити потребують знання синтаксису
•  Відсутні шаблони/пресети типових запитів
•  Бракує вбудованих підказок до запуску</a:t>
            </a:r>
            <a:endParaRPr lang="en-US" sz="1400">
              <a:solidFill>
                <a:srgbClr val="37474F"/>
              </a:solidFill>
              <a:latin typeface="Segoe UI"/>
              <a:cs typeface="Segoe U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71F252-7FB6-4DD8-9534-1F49720A316C}"/>
              </a:ext>
            </a:extLst>
          </p:cNvPr>
          <p:cNvSpPr/>
          <p:nvPr/>
        </p:nvSpPr>
        <p:spPr>
          <a:xfrm>
            <a:off x="6350000" y="3810000"/>
            <a:ext cx="5588000" cy="2032000"/>
          </a:xfrm>
          <a:prstGeom prst="roundRect">
            <a:avLst/>
          </a:prstGeom>
          <a:solidFill>
            <a:srgbClr val="0D1B2A"/>
          </a:solidFill>
          <a:ln w="12700" cap="flat" cmpd="sng" algn="ctr">
            <a:solidFill>
              <a:srgbClr val="00BCD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ru-RU" sz="1400">
                <a:solidFill>
                  <a:srgbClr val="E0F7FA"/>
                </a:solidFill>
                <a:latin typeface="Segoe UI"/>
                <a:cs typeface="Segoe UI"/>
              </a:rPr>
              <a:t>Firefox: незначна відмінність стилю поля дати.
Функціональне тестування:
чек-листи за ролями (Гість / Користувач / Адміністратор) — усі сценарії пройдено.</a:t>
            </a:r>
            <a:endParaRPr lang="en-US" sz="1400">
              <a:solidFill>
                <a:srgbClr val="E0F7FA"/>
              </a:solidFill>
              <a:latin typeface="Segoe UI"/>
              <a:cs typeface="Segoe UI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1F397FE-7257-4BD4-8960-AA582432D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023477"/>
              </p:ext>
            </p:extLst>
          </p:nvPr>
        </p:nvGraphicFramePr>
        <p:xfrm>
          <a:off x="6350000" y="1625600"/>
          <a:ext cx="55880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0035516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59302501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2242234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Браузер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Відобр.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Функц.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8851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Google Chrome 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1763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Microsoft Edge 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67438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7474F"/>
                          </a:solidFill>
                          <a:latin typeface="Segoe UI"/>
                          <a:cs typeface="Segoe UI"/>
                        </a:rPr>
                        <a:t>Mozilla Firefox 126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58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59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sz="3200" b="1" noProof="0">
                <a:solidFill>
                  <a:srgbClr val="FFFFFF"/>
                </a:solidFill>
                <a:latin typeface="Segoe UI"/>
                <a:cs typeface="Segoe UI"/>
              </a:rPr>
              <a:t>Апробація результатів</a:t>
            </a:r>
            <a:endParaRPr lang="uk-UA" sz="3200" b="1" noProof="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2C1E0-FB62-44E5-BB16-36D591E4DB57}"/>
              </a:ext>
            </a:extLst>
          </p:cNvPr>
          <p:cNvSpPr txBox="1"/>
          <p:nvPr/>
        </p:nvSpPr>
        <p:spPr>
          <a:xfrm>
            <a:off x="508000" y="11938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600" b="1">
                <a:solidFill>
                  <a:srgbClr val="00BCD4"/>
                </a:solidFill>
                <a:latin typeface="Segoe UI"/>
                <a:cs typeface="Segoe UI"/>
              </a:rPr>
              <a:t>Форум «Радіоелектроніка та молодь»</a:t>
            </a:r>
            <a:endParaRPr lang="en-US" sz="1600" b="1">
              <a:solidFill>
                <a:srgbClr val="00BCD4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B8340-E378-4077-94B5-B0A380F201FC}"/>
              </a:ext>
            </a:extLst>
          </p:cNvPr>
          <p:cNvSpPr txBox="1"/>
          <p:nvPr/>
        </p:nvSpPr>
        <p:spPr>
          <a:xfrm>
            <a:off x="6350000" y="11938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600" b="1">
                <a:solidFill>
                  <a:srgbClr val="00BCD4"/>
                </a:solidFill>
                <a:latin typeface="Segoe UI"/>
                <a:cs typeface="Segoe UI"/>
              </a:rPr>
              <a:t>Конференція з інтелектуальних систем</a:t>
            </a:r>
            <a:endParaRPr lang="en-US" sz="1600" b="1">
              <a:solidFill>
                <a:srgbClr val="00BCD4"/>
              </a:solidFill>
              <a:latin typeface="Segoe UI"/>
              <a:cs typeface="Segoe U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6ADC20-9B49-415E-ACC8-EE3FF9EE1CEC}"/>
              </a:ext>
            </a:extLst>
          </p:cNvPr>
          <p:cNvSpPr/>
          <p:nvPr/>
        </p:nvSpPr>
        <p:spPr>
          <a:xfrm>
            <a:off x="506412" y="1531112"/>
            <a:ext cx="5332413" cy="857669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ru-RU" sz="1400">
                <a:solidFill>
                  <a:srgbClr val="37474F"/>
                </a:solidFill>
                <a:latin typeface="Segoe UI"/>
                <a:cs typeface="Segoe UI"/>
              </a:rPr>
              <a:t>XXX Міжнародний молодіжний форум «Радіоелектроніка та молодь у XXI столітті», секція «Наука» — виставка технічної творчості молоді. ХНУРЕ, м. Харків.</a:t>
            </a:r>
            <a:endParaRPr lang="en-US" sz="1400">
              <a:solidFill>
                <a:srgbClr val="37474F"/>
              </a:solidFill>
              <a:latin typeface="Segoe UI"/>
              <a:cs typeface="Segoe U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A1F949-A717-4A34-81C9-93A272D022DC}"/>
              </a:ext>
            </a:extLst>
          </p:cNvPr>
          <p:cNvSpPr/>
          <p:nvPr/>
        </p:nvSpPr>
        <p:spPr>
          <a:xfrm>
            <a:off x="6332517" y="1520952"/>
            <a:ext cx="5588000" cy="91948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Науково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-практична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конференція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 «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Комп'ютерні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інтелектуальні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системи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 та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мережі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» —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апробація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 та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публікація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результатів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кваліфікаційної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 </a:t>
            </a:r>
            <a:r>
              <a:rPr lang="ru-RU" sz="1400" dirty="0" err="1">
                <a:solidFill>
                  <a:srgbClr val="37474F"/>
                </a:solidFill>
                <a:latin typeface="Segoe UI"/>
                <a:cs typeface="Segoe UI"/>
              </a:rPr>
              <a:t>роботи</a:t>
            </a:r>
            <a:r>
              <a:rPr lang="ru-RU" sz="1400" dirty="0">
                <a:solidFill>
                  <a:srgbClr val="37474F"/>
                </a:solidFill>
                <a:latin typeface="Segoe UI"/>
                <a:cs typeface="Segoe UI"/>
              </a:rPr>
              <a:t>.</a:t>
            </a:r>
            <a:endParaRPr lang="en-US" sz="1400" dirty="0">
              <a:solidFill>
                <a:srgbClr val="37474F"/>
              </a:solidFill>
              <a:latin typeface="Segoe UI"/>
              <a:cs typeface="Segoe U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EEFFE2-5BF8-0D49-5A7C-58F2ECF8E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298" y="2498509"/>
            <a:ext cx="2916639" cy="41126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B14BF2-27BC-EA50-9150-8E9E2D412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216" y="2498509"/>
            <a:ext cx="2879345" cy="406540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FFF87A-A290-726B-1410-DDB93E2EF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9295" y="2498509"/>
            <a:ext cx="2879345" cy="406227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rgbClr val="002060"/>
                </a:solidFill>
                <a:latin typeface="Segoe UI"/>
                <a:cs typeface="Segoe U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300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uk-UA" noProof="0" dirty="0"/>
              <a:t>Висновки та перспективи розвитку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1151" y="640080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D8B"/>
                </a:solidFill>
                <a:latin typeface="Segoe UI"/>
              </a:defRPr>
            </a:pPr>
            <a:r>
              <a:rPr lang="uk-UA" sz="1600" b="1" noProof="0" dirty="0">
                <a:solidFill>
                  <a:srgbClr val="002060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Segoe UI"/>
              </a:defRPr>
            </a:pPr>
            <a:r>
              <a:rPr lang="uk-UA" noProof="0" dirty="0"/>
              <a:t>Висновки: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303520" cy="4663440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defRPr sz="1300">
                <a:solidFill>
                  <a:srgbClr val="37474F"/>
                </a:solidFill>
                <a:latin typeface="Segoe UI"/>
              </a:defRPr>
            </a:pPr>
            <a:r>
              <a:rPr lang="uk-UA" sz="1600" noProof="0" dirty="0"/>
              <a:t>Розроблено веб-систему для побудови та аналізу OLAP-кубів, що реалізує повний цикл: від завантаження табличних даних до побудови OLAP-кубів, виконання SQL/MDX запитів та візуалізації результатів на </a:t>
            </a:r>
            <a:r>
              <a:rPr lang="uk-UA" sz="1600" noProof="0" dirty="0" err="1"/>
              <a:t>дашбордах</a:t>
            </a:r>
            <a:r>
              <a:rPr lang="uk-UA" sz="1600" noProof="0" dirty="0"/>
              <a:t>.</a:t>
            </a:r>
          </a:p>
          <a:p>
            <a:pPr algn="just">
              <a:defRPr sz="1300">
                <a:solidFill>
                  <a:srgbClr val="37474F"/>
                </a:solidFill>
                <a:latin typeface="Segoe UI"/>
              </a:defRPr>
            </a:pPr>
            <a:br>
              <a:rPr lang="uk-UA" sz="1600" noProof="0" dirty="0"/>
            </a:br>
            <a:r>
              <a:rPr lang="uk-UA" sz="1600" noProof="0" dirty="0"/>
              <a:t>Реалізовано алгоритм автоматичного аналізу придатності </a:t>
            </a:r>
            <a:r>
              <a:rPr lang="uk-UA" sz="1600" noProof="0" dirty="0" err="1"/>
              <a:t>датасетів</a:t>
            </a:r>
            <a:r>
              <a:rPr lang="uk-UA" sz="1600" noProof="0" dirty="0"/>
              <a:t> для побудови кубів з багатофакторною оцінкою вимірів та мір.</a:t>
            </a:r>
          </a:p>
          <a:p>
            <a:pPr algn="just">
              <a:defRPr sz="1300">
                <a:solidFill>
                  <a:srgbClr val="37474F"/>
                </a:solidFill>
                <a:latin typeface="Segoe UI"/>
              </a:defRPr>
            </a:pPr>
            <a:br>
              <a:rPr lang="uk-UA" sz="1600" noProof="0" dirty="0"/>
            </a:br>
            <a:r>
              <a:rPr lang="uk-UA" sz="1600" noProof="0" dirty="0"/>
              <a:t>Інтегровано AI-генерацію запитів через </a:t>
            </a:r>
            <a:r>
              <a:rPr lang="uk-UA" sz="1600" noProof="0" dirty="0" err="1"/>
              <a:t>Gemini</a:t>
            </a:r>
            <a:r>
              <a:rPr lang="uk-UA" sz="1600" noProof="0" dirty="0"/>
              <a:t> API з </a:t>
            </a:r>
            <a:r>
              <a:rPr lang="uk-UA" sz="1600" noProof="0" dirty="0" err="1"/>
              <a:t>валідацією</a:t>
            </a:r>
            <a:r>
              <a:rPr lang="uk-UA" sz="1600" noProof="0" dirty="0"/>
              <a:t> та </a:t>
            </a:r>
            <a:r>
              <a:rPr lang="uk-UA" sz="1600" noProof="0" dirty="0" err="1"/>
              <a:t>авторепарацією</a:t>
            </a:r>
            <a:r>
              <a:rPr lang="uk-UA" sz="1600" noProof="0" dirty="0"/>
              <a:t> згенерованих SQL/MDX запитів.</a:t>
            </a:r>
          </a:p>
          <a:p>
            <a:pPr algn="just">
              <a:defRPr sz="1300">
                <a:solidFill>
                  <a:srgbClr val="37474F"/>
                </a:solidFill>
                <a:latin typeface="Segoe UI"/>
              </a:defRPr>
            </a:pPr>
            <a:br>
              <a:rPr lang="uk-UA" sz="1600" noProof="0" dirty="0"/>
            </a:br>
            <a:r>
              <a:rPr lang="uk-UA" sz="1600" noProof="0" dirty="0"/>
              <a:t>Результати проєкту можуть бути використані бізнес-аналітиками, аналітиками даних та менеджерами для оперативного аналізу даних без потреби у складній інфраструктурі та для навчання дата-інженерів.</a:t>
            </a:r>
          </a:p>
        </p:txBody>
      </p:sp>
      <p:sp>
        <p:nvSpPr>
          <p:cNvPr id="9" name="Rectangle 8"/>
          <p:cNvSpPr/>
          <p:nvPr/>
        </p:nvSpPr>
        <p:spPr>
          <a:xfrm flipH="1">
            <a:off x="502918" y="2090573"/>
            <a:ext cx="45719" cy="3947869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79FF"/>
                </a:solidFill>
                <a:latin typeface="Segoe UI"/>
              </a:defRPr>
            </a:pPr>
            <a:r>
              <a:rPr lang="uk-UA" noProof="0" dirty="0">
                <a:solidFill>
                  <a:srgbClr val="00BCD4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Перспективи розвитку: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799" y="1783080"/>
            <a:ext cx="5686097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B2EBF2"/>
                </a:solidFill>
                <a:latin typeface="Segoe UI"/>
              </a:defRPr>
            </a:pPr>
            <a:r>
              <a:rPr lang="uk-UA" sz="1600" noProof="0" dirty="0"/>
              <a:t>   →  Підключення зовнішніх баз даних як джерел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19656"/>
            <a:ext cx="51692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sz="3600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6400799" y="2258568"/>
            <a:ext cx="5686097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B2EBF2"/>
                </a:solidFill>
                <a:latin typeface="Segoe UI"/>
              </a:defRPr>
            </a:pPr>
            <a:r>
              <a:rPr lang="uk-UA" sz="1600" noProof="0" dirty="0"/>
              <a:t>   →  Інтеграція з хмарними сховищами (S3, GCS)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95144"/>
            <a:ext cx="51692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sz="3600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6400799" y="2734056"/>
            <a:ext cx="5686097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B2EBF2"/>
                </a:solidFill>
                <a:latin typeface="Segoe UI"/>
              </a:defRPr>
            </a:pPr>
            <a:r>
              <a:rPr lang="uk-UA" sz="1600" noProof="0" dirty="0"/>
              <a:t>   →  Підтримка </a:t>
            </a:r>
            <a:r>
              <a:rPr lang="uk-UA" sz="1600" noProof="0" dirty="0" err="1"/>
              <a:t>Parquet</a:t>
            </a:r>
            <a:r>
              <a:rPr lang="uk-UA" sz="1600" noProof="0" dirty="0"/>
              <a:t> та інших форматів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70632"/>
            <a:ext cx="51692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sz="3600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6400799" y="3209544"/>
            <a:ext cx="5686097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B2EBF2"/>
                </a:solidFill>
                <a:latin typeface="Segoe UI"/>
              </a:defRPr>
            </a:pPr>
            <a:r>
              <a:rPr lang="uk-UA" sz="1600" noProof="0" dirty="0"/>
              <a:t>   →  Мобільний додаток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46120"/>
            <a:ext cx="51692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sz="3600" noProof="0" dirty="0"/>
          </a:p>
        </p:txBody>
      </p:sp>
      <p:sp>
        <p:nvSpPr>
          <p:cNvPr id="19" name="Rounded Rectangle 18"/>
          <p:cNvSpPr/>
          <p:nvPr/>
        </p:nvSpPr>
        <p:spPr>
          <a:xfrm>
            <a:off x="6400799" y="3685032"/>
            <a:ext cx="5686097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B2EBF2"/>
                </a:solidFill>
                <a:latin typeface="Segoe UI"/>
              </a:defRPr>
            </a:pPr>
            <a:r>
              <a:rPr lang="uk-UA" sz="1600" noProof="0" dirty="0"/>
              <a:t>   →  Повноцінна RBAC-система ролей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21608"/>
            <a:ext cx="51692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sz="3600" noProof="0" dirty="0"/>
          </a:p>
        </p:txBody>
      </p:sp>
      <p:sp>
        <p:nvSpPr>
          <p:cNvPr id="21" name="Rounded Rectangle 20"/>
          <p:cNvSpPr/>
          <p:nvPr/>
        </p:nvSpPr>
        <p:spPr>
          <a:xfrm>
            <a:off x="6400799" y="4160520"/>
            <a:ext cx="5686097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B2EBF2"/>
                </a:solidFill>
                <a:latin typeface="Segoe UI"/>
              </a:defRPr>
            </a:pPr>
            <a:r>
              <a:rPr lang="uk-UA" sz="1600" noProof="0" dirty="0"/>
              <a:t>   →  Вбудований ML/AI-аналізатор для прогнозування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97096"/>
            <a:ext cx="51692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sz="3600" noProof="0" dirty="0"/>
          </a:p>
        </p:txBody>
      </p:sp>
      <p:sp>
        <p:nvSpPr>
          <p:cNvPr id="23" name="Rounded Rectangle 22"/>
          <p:cNvSpPr/>
          <p:nvPr/>
        </p:nvSpPr>
        <p:spPr>
          <a:xfrm>
            <a:off x="6400799" y="4636008"/>
            <a:ext cx="5686097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B2EBF2"/>
                </a:solidFill>
                <a:latin typeface="Segoe UI"/>
              </a:defRPr>
            </a:pPr>
            <a:r>
              <a:rPr lang="uk-UA" sz="1600" noProof="0" dirty="0"/>
              <a:t>   →  Публічне API для інтеграції з BI-платформами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672584"/>
            <a:ext cx="51692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sz="3600" noProof="0" dirty="0"/>
          </a:p>
        </p:txBody>
      </p:sp>
      <p:sp>
        <p:nvSpPr>
          <p:cNvPr id="25" name="Rounded Rectangle 24"/>
          <p:cNvSpPr/>
          <p:nvPr/>
        </p:nvSpPr>
        <p:spPr>
          <a:xfrm>
            <a:off x="6400799" y="5111496"/>
            <a:ext cx="5686097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>
                <a:solidFill>
                  <a:srgbClr val="B2EBF2"/>
                </a:solidFill>
                <a:latin typeface="Segoe UI"/>
              </a:defRPr>
            </a:pPr>
            <a:r>
              <a:rPr lang="uk-UA" sz="1600" noProof="0" dirty="0"/>
              <a:t>   →  </a:t>
            </a:r>
            <a:r>
              <a:rPr lang="uk-UA" sz="1600" noProof="0" dirty="0" err="1"/>
              <a:t>Стрімінгові</a:t>
            </a:r>
            <a:r>
              <a:rPr lang="uk-UA" sz="1600" noProof="0" dirty="0"/>
              <a:t> джерела даних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148072"/>
            <a:ext cx="51692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uk-UA" sz="3600" noProof="0" dirty="0"/>
          </a:p>
        </p:txBody>
      </p:sp>
      <p:sp>
        <p:nvSpPr>
          <p:cNvPr id="28" name="Rectangle 27"/>
          <p:cNvSpPr/>
          <p:nvPr/>
        </p:nvSpPr>
        <p:spPr>
          <a:xfrm>
            <a:off x="-127" y="6697980"/>
            <a:ext cx="12188952" cy="137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  <p:sp>
        <p:nvSpPr>
          <p:cNvPr id="29" name="Rectangle 28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5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294347-8C73-494C-89EA-F186388274B3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72fe70db-a194-4663-b313-e1ede17e40a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1078</Words>
  <Application>Microsoft Office PowerPoint</Application>
  <PresentationFormat>Custom</PresentationFormat>
  <Paragraphs>230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UserHome</dc:creator>
  <cp:keywords/>
  <dc:description>generated using python-pptx</dc:description>
  <cp:lastModifiedBy>Yelyzaveta Tymchenko</cp:lastModifiedBy>
  <cp:revision>55</cp:revision>
  <dcterms:created xsi:type="dcterms:W3CDTF">2013-01-27T09:14:16Z</dcterms:created>
  <dcterms:modified xsi:type="dcterms:W3CDTF">2026-07-02T08:21:16Z</dcterms:modified>
  <cp:category/>
</cp:coreProperties>
</file>